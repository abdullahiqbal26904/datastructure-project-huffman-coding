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74" r:id="rId11"/>
    <p:sldId id="285" r:id="rId12"/>
    <p:sldId id="265" r:id="rId13"/>
    <p:sldId id="277" r:id="rId14"/>
    <p:sldId id="284" r:id="rId15"/>
    <p:sldId id="266" r:id="rId16"/>
    <p:sldId id="267" r:id="rId17"/>
    <p:sldId id="268" r:id="rId18"/>
    <p:sldId id="269" r:id="rId19"/>
    <p:sldId id="273" r:id="rId20"/>
    <p:sldId id="280" r:id="rId21"/>
    <p:sldId id="282" r:id="rId22"/>
    <p:sldId id="275" r:id="rId23"/>
    <p:sldId id="276" r:id="rId24"/>
    <p:sldId id="270" r:id="rId25"/>
    <p:sldId id="272" r:id="rId26"/>
    <p:sldId id="27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86"/>
    <p:restoredTop sz="95687"/>
  </p:normalViewPr>
  <p:slideViewPr>
    <p:cSldViewPr snapToGrid="0">
      <p:cViewPr varScale="1">
        <p:scale>
          <a:sx n="108" d="100"/>
          <a:sy n="108" d="100"/>
        </p:scale>
        <p:origin x="73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viewProps" Target="viewProps.xml" /></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10T15:40:17.321"/>
    </inkml:context>
    <inkml:brush xml:id="br0">
      <inkml:brushProperty name="width" value="0.05292" units="cm"/>
      <inkml:brushProperty name="height" value="0.05292" units="cm"/>
      <inkml:brushProperty name="color" value="#0000FF"/>
    </inkml:brush>
    <inkml:context xml:id="ctx1">
      <inkml:inkSource xml:id="inkSrc1">
        <inkml:traceFormat>
          <inkml:channel name="X" type="integer" min="-2.14748E9" max="2.14748E9" units="cm"/>
          <inkml:channel name="Y" type="integer" min="-2.14748E9" max="2.14748E9" units="cm"/>
          <inkml:channel name="F" type="integer" max="32767" units="dev"/>
          <inkml:channel name="T" type="integer" max="2.14748E9" units="dev"/>
        </inkml:traceFormat>
        <inkml:channelProperties>
          <inkml:channelProperty channel="X" name="resolution" value="1000" units="1/cm"/>
          <inkml:channelProperty channel="Y" name="resolution" value="1000" units="1/cm"/>
          <inkml:channelProperty channel="F" name="resolution" value="0" units="1/dev"/>
          <inkml:channelProperty channel="T" name="resolution" value="1" units="1/dev"/>
        </inkml:channelProperties>
      </inkml:inkSource>
      <inkml:timestamp xml:id="ts1" timeString="2023-12-10T15:37:15.098"/>
    </inkml:context>
  </inkml:definitions>
  <inkml:trace contextRef="#ctx0" brushRef="#br0">8914 12253 24575,'0'0'0</inkml:trace>
  <inkml:trace contextRef="#ctx1" brushRef="#br0">8914 12253 24575 0,'0'0'0'91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85F435-ACC1-8546-A15E-A242B30B4A0C}" type="datetimeFigureOut">
              <a:rPr lang="en-PK" smtClean="0"/>
              <a:t>12/12/2023</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976F9A-0986-4A43-AA9C-05B46DA62014}" type="slidenum">
              <a:rPr lang="en-PK" smtClean="0"/>
              <a:t>‹#›</a:t>
            </a:fld>
            <a:endParaRPr lang="en-PK"/>
          </a:p>
        </p:txBody>
      </p:sp>
    </p:spTree>
    <p:extLst>
      <p:ext uri="{BB962C8B-B14F-4D97-AF65-F5344CB8AC3E}">
        <p14:creationId xmlns:p14="http://schemas.microsoft.com/office/powerpoint/2010/main" val="4222012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effectLst/>
                <a:latin typeface="Helvetica Neue" panose="02000503000000020004" pitchFamily="2" charset="0"/>
              </a:rPr>
              <a:t>Asslamo</a:t>
            </a:r>
            <a:r>
              <a:rPr lang="en-GB" dirty="0">
                <a:effectLst/>
                <a:latin typeface="Helvetica Neue" panose="02000503000000020004" pitchFamily="2" charset="0"/>
              </a:rPr>
              <a:t> </a:t>
            </a:r>
            <a:r>
              <a:rPr lang="en-GB" dirty="0" err="1">
                <a:effectLst/>
                <a:latin typeface="Helvetica Neue" panose="02000503000000020004" pitchFamily="2" charset="0"/>
              </a:rPr>
              <a:t>alaikum</a:t>
            </a:r>
            <a:r>
              <a:rPr lang="en-GB" dirty="0">
                <a:effectLst/>
                <a:latin typeface="Helvetica Neue" panose="02000503000000020004" pitchFamily="2" charset="0"/>
              </a:rPr>
              <a:t> everyone so today my team and </a:t>
            </a:r>
            <a:r>
              <a:rPr lang="en-GB" dirty="0" err="1">
                <a:effectLst/>
                <a:latin typeface="Helvetica Neue" panose="02000503000000020004" pitchFamily="2" charset="0"/>
              </a:rPr>
              <a:t>i</a:t>
            </a:r>
            <a:r>
              <a:rPr lang="en-GB" dirty="0">
                <a:effectLst/>
                <a:latin typeface="Helvetica Neue" panose="02000503000000020004" pitchFamily="2" charset="0"/>
              </a:rPr>
              <a:t> have created a project for our data structure course. I’ll first move on with introducing my </a:t>
            </a:r>
            <a:r>
              <a:rPr lang="en-GB" dirty="0" err="1">
                <a:effectLst/>
                <a:latin typeface="Helvetica Neue" panose="02000503000000020004" pitchFamily="2" charset="0"/>
              </a:rPr>
              <a:t>coallegues</a:t>
            </a:r>
            <a:r>
              <a:rPr lang="en-GB" dirty="0">
                <a:effectLst/>
                <a:latin typeface="Helvetica Neue" panose="02000503000000020004" pitchFamily="2" charset="0"/>
              </a:rPr>
              <a:t>, </a:t>
            </a:r>
            <a:r>
              <a:rPr lang="en-GB" dirty="0" err="1">
                <a:effectLst/>
                <a:latin typeface="Helvetica Neue" panose="02000503000000020004" pitchFamily="2" charset="0"/>
              </a:rPr>
              <a:t>aprt</a:t>
            </a:r>
            <a:r>
              <a:rPr lang="en-GB" dirty="0">
                <a:effectLst/>
                <a:latin typeface="Helvetica Neue" panose="02000503000000020004" pitchFamily="2" charset="0"/>
              </a:rPr>
              <a:t> from me , </a:t>
            </a:r>
            <a:r>
              <a:rPr lang="en-GB" dirty="0" err="1">
                <a:effectLst/>
                <a:latin typeface="Helvetica Neue" panose="02000503000000020004" pitchFamily="2" charset="0"/>
              </a:rPr>
              <a:t>abdullah</a:t>
            </a:r>
            <a:r>
              <a:rPr lang="en-GB" dirty="0">
                <a:effectLst/>
                <a:latin typeface="Helvetica Neue" panose="02000503000000020004" pitchFamily="2" charset="0"/>
              </a:rPr>
              <a:t> </a:t>
            </a:r>
            <a:r>
              <a:rPr lang="en-GB" dirty="0" err="1">
                <a:effectLst/>
                <a:latin typeface="Helvetica Neue" panose="02000503000000020004" pitchFamily="2" charset="0"/>
              </a:rPr>
              <a:t>khalid</a:t>
            </a:r>
            <a:r>
              <a:rPr lang="en-GB" dirty="0">
                <a:effectLst/>
                <a:latin typeface="Helvetica Neue" panose="02000503000000020004" pitchFamily="2" charset="0"/>
              </a:rPr>
              <a:t>, our team includes </a:t>
            </a:r>
            <a:r>
              <a:rPr lang="en-GB" dirty="0" err="1">
                <a:effectLst/>
                <a:latin typeface="Helvetica Neue" panose="02000503000000020004" pitchFamily="2" charset="0"/>
              </a:rPr>
              <a:t>abdullah</a:t>
            </a:r>
            <a:r>
              <a:rPr lang="en-GB" dirty="0">
                <a:effectLst/>
                <a:latin typeface="Helvetica Neue" panose="02000503000000020004" pitchFamily="2" charset="0"/>
              </a:rPr>
              <a:t> </a:t>
            </a:r>
            <a:r>
              <a:rPr lang="en-GB" dirty="0" err="1">
                <a:effectLst/>
                <a:latin typeface="Helvetica Neue" panose="02000503000000020004" pitchFamily="2" charset="0"/>
              </a:rPr>
              <a:t>ahmedani</a:t>
            </a:r>
            <a:r>
              <a:rPr lang="en-GB" dirty="0">
                <a:effectLst/>
                <a:latin typeface="Helvetica Neue" panose="02000503000000020004" pitchFamily="2" charset="0"/>
              </a:rPr>
              <a:t> and </a:t>
            </a:r>
            <a:r>
              <a:rPr lang="en-GB" dirty="0" err="1">
                <a:effectLst/>
                <a:latin typeface="Helvetica Neue" panose="02000503000000020004" pitchFamily="2" charset="0"/>
              </a:rPr>
              <a:t>abdullah</a:t>
            </a:r>
            <a:r>
              <a:rPr lang="en-GB" dirty="0">
                <a:effectLst/>
                <a:latin typeface="Helvetica Neue" panose="02000503000000020004" pitchFamily="2" charset="0"/>
              </a:rPr>
              <a:t> Iqbal. </a:t>
            </a:r>
          </a:p>
          <a:p>
            <a:r>
              <a:rPr lang="en-GB" dirty="0">
                <a:effectLst/>
                <a:latin typeface="Helvetica Neue" panose="02000503000000020004" pitchFamily="2" charset="0"/>
              </a:rPr>
              <a:t>Our project is based upon </a:t>
            </a:r>
            <a:r>
              <a:rPr lang="en-GB" dirty="0" err="1">
                <a:effectLst/>
                <a:latin typeface="Helvetica Neue" panose="02000503000000020004" pitchFamily="2" charset="0"/>
              </a:rPr>
              <a:t>huffman</a:t>
            </a:r>
            <a:r>
              <a:rPr lang="en-GB" dirty="0">
                <a:effectLst/>
                <a:latin typeface="Helvetica Neue" panose="02000503000000020004" pitchFamily="2" charset="0"/>
              </a:rPr>
              <a:t> compression which is a compression technique for files. WE’LL TALK ABOUT THIS IN MORE DETAIL:  but first off </a:t>
            </a:r>
            <a:r>
              <a:rPr lang="en-GB" dirty="0" err="1">
                <a:effectLst/>
                <a:latin typeface="Helvetica Neue" panose="02000503000000020004" pitchFamily="2" charset="0"/>
              </a:rPr>
              <a:t>witht</a:t>
            </a:r>
            <a:r>
              <a:rPr lang="en-GB" dirty="0">
                <a:effectLst/>
                <a:latin typeface="Helvetica Neue" panose="02000503000000020004" pitchFamily="2" charset="0"/>
              </a:rPr>
              <a:t> the slides content and things that the viewers can expect from our presentation:</a:t>
            </a:r>
          </a:p>
          <a:p>
            <a:endParaRPr lang="en-PK" dirty="0"/>
          </a:p>
        </p:txBody>
      </p:sp>
      <p:sp>
        <p:nvSpPr>
          <p:cNvPr id="4" name="Slide Number Placeholder 3"/>
          <p:cNvSpPr>
            <a:spLocks noGrp="1"/>
          </p:cNvSpPr>
          <p:nvPr>
            <p:ph type="sldNum" sz="quarter" idx="5"/>
          </p:nvPr>
        </p:nvSpPr>
        <p:spPr/>
        <p:txBody>
          <a:bodyPr/>
          <a:lstStyle/>
          <a:p>
            <a:fld id="{47976F9A-0986-4A43-AA9C-05B46DA62014}" type="slidenum">
              <a:rPr lang="en-PK" smtClean="0"/>
              <a:t>1</a:t>
            </a:fld>
            <a:endParaRPr lang="en-PK"/>
          </a:p>
        </p:txBody>
      </p:sp>
    </p:spTree>
    <p:extLst>
      <p:ext uri="{BB962C8B-B14F-4D97-AF65-F5344CB8AC3E}">
        <p14:creationId xmlns:p14="http://schemas.microsoft.com/office/powerpoint/2010/main" val="3381238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latin typeface="Helvetica Neue" panose="02000503000000020004" pitchFamily="2" charset="0"/>
              </a:rPr>
              <a:t>After the basic idea, and the reason why we chose to build a </a:t>
            </a:r>
            <a:r>
              <a:rPr lang="en-GB" dirty="0" err="1">
                <a:effectLst/>
                <a:latin typeface="Helvetica Neue" panose="02000503000000020004" pitchFamily="2" charset="0"/>
              </a:rPr>
              <a:t>huffman</a:t>
            </a:r>
            <a:r>
              <a:rPr lang="en-GB" dirty="0">
                <a:effectLst/>
                <a:latin typeface="Helvetica Neue" panose="02000503000000020004" pitchFamily="2" charset="0"/>
              </a:rPr>
              <a:t> compression over anything else and what </a:t>
            </a:r>
            <a:r>
              <a:rPr lang="en-GB" dirty="0" err="1">
                <a:effectLst/>
                <a:latin typeface="Helvetica Neue" panose="02000503000000020004" pitchFamily="2" charset="0"/>
              </a:rPr>
              <a:t>eaxctly</a:t>
            </a:r>
            <a:r>
              <a:rPr lang="en-GB" dirty="0">
                <a:effectLst/>
                <a:latin typeface="Helvetica Neue" panose="02000503000000020004" pitchFamily="2" charset="0"/>
              </a:rPr>
              <a:t> it is. After that my </a:t>
            </a:r>
            <a:r>
              <a:rPr lang="en-GB" dirty="0" err="1">
                <a:effectLst/>
                <a:latin typeface="Helvetica Neue" panose="02000503000000020004" pitchFamily="2" charset="0"/>
              </a:rPr>
              <a:t>coallegues</a:t>
            </a:r>
            <a:r>
              <a:rPr lang="en-GB" dirty="0">
                <a:effectLst/>
                <a:latin typeface="Helvetica Neue" panose="02000503000000020004" pitchFamily="2" charset="0"/>
              </a:rPr>
              <a:t> will join in to tell you more about the code - how it works and its working and then in a later phase we’re going to tell its time complexity, limitations and the data sources.</a:t>
            </a:r>
          </a:p>
        </p:txBody>
      </p:sp>
      <p:sp>
        <p:nvSpPr>
          <p:cNvPr id="4" name="Slide Number Placeholder 3"/>
          <p:cNvSpPr>
            <a:spLocks noGrp="1"/>
          </p:cNvSpPr>
          <p:nvPr>
            <p:ph type="sldNum" sz="quarter" idx="5"/>
          </p:nvPr>
        </p:nvSpPr>
        <p:spPr/>
        <p:txBody>
          <a:bodyPr/>
          <a:lstStyle/>
          <a:p>
            <a:fld id="{47976F9A-0986-4A43-AA9C-05B46DA62014}" type="slidenum">
              <a:rPr lang="en-PK" smtClean="0"/>
              <a:t>2</a:t>
            </a:fld>
            <a:endParaRPr lang="en-PK"/>
          </a:p>
        </p:txBody>
      </p:sp>
    </p:spTree>
    <p:extLst>
      <p:ext uri="{BB962C8B-B14F-4D97-AF65-F5344CB8AC3E}">
        <p14:creationId xmlns:p14="http://schemas.microsoft.com/office/powerpoint/2010/main" val="4142996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latin typeface="Helvetica Neue" panose="02000503000000020004" pitchFamily="2" charset="0"/>
              </a:rPr>
              <a:t>Moving on, lets say: if we want to send a huge data file, it can be a book, a report or as in this case a data scientist who wants to send her work to her client on a data file.. Now such large chunk of data to move takes time - a lot of time, regardless if its from one computer to another, or if its via the internet to cloud or anything else. </a:t>
            </a:r>
            <a:endParaRPr lang="en-PK" dirty="0"/>
          </a:p>
        </p:txBody>
      </p:sp>
      <p:sp>
        <p:nvSpPr>
          <p:cNvPr id="4" name="Slide Number Placeholder 3"/>
          <p:cNvSpPr>
            <a:spLocks noGrp="1"/>
          </p:cNvSpPr>
          <p:nvPr>
            <p:ph type="sldNum" sz="quarter" idx="5"/>
          </p:nvPr>
        </p:nvSpPr>
        <p:spPr/>
        <p:txBody>
          <a:bodyPr/>
          <a:lstStyle/>
          <a:p>
            <a:fld id="{47976F9A-0986-4A43-AA9C-05B46DA62014}" type="slidenum">
              <a:rPr lang="en-PK" smtClean="0"/>
              <a:t>3</a:t>
            </a:fld>
            <a:endParaRPr lang="en-PK"/>
          </a:p>
        </p:txBody>
      </p:sp>
    </p:spTree>
    <p:extLst>
      <p:ext uri="{BB962C8B-B14F-4D97-AF65-F5344CB8AC3E}">
        <p14:creationId xmlns:p14="http://schemas.microsoft.com/office/powerpoint/2010/main" val="3356864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latin typeface="Helvetica Neue" panose="02000503000000020004" pitchFamily="2" charset="0"/>
              </a:rPr>
              <a:t>The problem can come due to the </a:t>
            </a:r>
            <a:r>
              <a:rPr lang="en-GB" dirty="0" err="1">
                <a:effectLst/>
                <a:latin typeface="Helvetica Neue" panose="02000503000000020004" pitchFamily="2" charset="0"/>
              </a:rPr>
              <a:t>infrasturcture</a:t>
            </a:r>
            <a:r>
              <a:rPr lang="en-GB" dirty="0">
                <a:effectLst/>
                <a:latin typeface="Helvetica Neue" panose="02000503000000020004" pitchFamily="2" charset="0"/>
              </a:rPr>
              <a:t> - for example if its over the internet then bandwidth of the internet connection plays a crucial role, it can either be because of server load which can increase time but most importantly The problem is the data size which we have to reduce in order to reduce so the time required to move the data reduces... this is where compression comes in:</a:t>
            </a:r>
          </a:p>
          <a:p>
            <a:endParaRPr lang="en-PK" dirty="0"/>
          </a:p>
        </p:txBody>
      </p:sp>
      <p:sp>
        <p:nvSpPr>
          <p:cNvPr id="4" name="Slide Number Placeholder 3"/>
          <p:cNvSpPr>
            <a:spLocks noGrp="1"/>
          </p:cNvSpPr>
          <p:nvPr>
            <p:ph type="sldNum" sz="quarter" idx="5"/>
          </p:nvPr>
        </p:nvSpPr>
        <p:spPr/>
        <p:txBody>
          <a:bodyPr/>
          <a:lstStyle/>
          <a:p>
            <a:fld id="{47976F9A-0986-4A43-AA9C-05B46DA62014}" type="slidenum">
              <a:rPr lang="en-PK" smtClean="0"/>
              <a:t>4</a:t>
            </a:fld>
            <a:endParaRPr lang="en-PK"/>
          </a:p>
        </p:txBody>
      </p:sp>
    </p:spTree>
    <p:extLst>
      <p:ext uri="{BB962C8B-B14F-4D97-AF65-F5344CB8AC3E}">
        <p14:creationId xmlns:p14="http://schemas.microsoft.com/office/powerpoint/2010/main" val="40624613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latin typeface="Helvetica Neue" panose="02000503000000020004" pitchFamily="2" charset="0"/>
              </a:rPr>
              <a:t>Basically you have a file - lets say 1 mb and want to send it to a friend… you’ll first carry out some algorithms on it to reduce the file size so that in can be moved easily… A special </a:t>
            </a:r>
            <a:r>
              <a:rPr lang="en-GB" dirty="0" err="1">
                <a:effectLst/>
                <a:latin typeface="Helvetica Neue" panose="02000503000000020004" pitchFamily="2" charset="0"/>
              </a:rPr>
              <a:t>charcter</a:t>
            </a:r>
            <a:r>
              <a:rPr lang="en-GB" dirty="0">
                <a:effectLst/>
                <a:latin typeface="Helvetica Neue" panose="02000503000000020004" pitchFamily="2" charset="0"/>
              </a:rPr>
              <a:t> is assigned along with some codes which use lesser number of bits than the ascii code which is the standard used today... </a:t>
            </a:r>
          </a:p>
          <a:p>
            <a:r>
              <a:rPr lang="en-GB" dirty="0">
                <a:effectLst/>
                <a:latin typeface="Helvetica Neue" panose="02000503000000020004" pitchFamily="2" charset="0"/>
              </a:rPr>
              <a:t>the contents of the file remain same but the file size is greatly reduced.</a:t>
            </a:r>
          </a:p>
        </p:txBody>
      </p:sp>
      <p:sp>
        <p:nvSpPr>
          <p:cNvPr id="4" name="Slide Number Placeholder 3"/>
          <p:cNvSpPr>
            <a:spLocks noGrp="1"/>
          </p:cNvSpPr>
          <p:nvPr>
            <p:ph type="sldNum" sz="quarter" idx="5"/>
          </p:nvPr>
        </p:nvSpPr>
        <p:spPr/>
        <p:txBody>
          <a:bodyPr/>
          <a:lstStyle/>
          <a:p>
            <a:fld id="{47976F9A-0986-4A43-AA9C-05B46DA62014}" type="slidenum">
              <a:rPr lang="en-PK" smtClean="0"/>
              <a:t>5</a:t>
            </a:fld>
            <a:endParaRPr lang="en-PK"/>
          </a:p>
        </p:txBody>
      </p:sp>
    </p:spTree>
    <p:extLst>
      <p:ext uri="{BB962C8B-B14F-4D97-AF65-F5344CB8AC3E}">
        <p14:creationId xmlns:p14="http://schemas.microsoft.com/office/powerpoint/2010/main" val="4095140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latin typeface="Helvetica Neue" panose="02000503000000020004" pitchFamily="2" charset="0"/>
              </a:rPr>
              <a:t>Why particularly </a:t>
            </a:r>
            <a:r>
              <a:rPr lang="en-GB" dirty="0" err="1">
                <a:effectLst/>
                <a:latin typeface="Helvetica Neue" panose="02000503000000020004" pitchFamily="2" charset="0"/>
              </a:rPr>
              <a:t>huffman</a:t>
            </a:r>
            <a:r>
              <a:rPr lang="en-GB" dirty="0">
                <a:effectLst/>
                <a:latin typeface="Helvetica Neue" panose="02000503000000020004" pitchFamily="2" charset="0"/>
              </a:rPr>
              <a:t> ?</a:t>
            </a:r>
          </a:p>
          <a:p>
            <a:r>
              <a:rPr lang="en-GB" dirty="0">
                <a:effectLst/>
                <a:latin typeface="Helvetica Neue" panose="02000503000000020004" pitchFamily="2" charset="0"/>
              </a:rPr>
              <a:t>Because </a:t>
            </a:r>
            <a:r>
              <a:rPr lang="en-GB" dirty="0" err="1">
                <a:effectLst/>
                <a:latin typeface="Helvetica Neue" panose="02000503000000020004" pitchFamily="2" charset="0"/>
              </a:rPr>
              <a:t>huffman</a:t>
            </a:r>
            <a:r>
              <a:rPr lang="en-GB" dirty="0">
                <a:effectLst/>
                <a:latin typeface="Helvetica Neue" panose="02000503000000020004" pitchFamily="2" charset="0"/>
              </a:rPr>
              <a:t> works best for text file compression - and </a:t>
            </a:r>
            <a:r>
              <a:rPr lang="en-GB" dirty="0" err="1">
                <a:effectLst/>
                <a:latin typeface="Helvetica Neue" panose="02000503000000020004" pitchFamily="2" charset="0"/>
              </a:rPr>
              <a:t>thats</a:t>
            </a:r>
            <a:r>
              <a:rPr lang="en-GB" dirty="0">
                <a:effectLst/>
                <a:latin typeface="Helvetica Neue" panose="02000503000000020004" pitchFamily="2" charset="0"/>
              </a:rPr>
              <a:t> what we’ve actually </a:t>
            </a:r>
            <a:r>
              <a:rPr lang="en-GB" dirty="0" err="1">
                <a:effectLst/>
                <a:latin typeface="Helvetica Neue" panose="02000503000000020004" pitchFamily="2" charset="0"/>
              </a:rPr>
              <a:t>targetted</a:t>
            </a:r>
            <a:r>
              <a:rPr lang="en-GB" dirty="0">
                <a:effectLst/>
                <a:latin typeface="Helvetica Neue" panose="02000503000000020004" pitchFamily="2" charset="0"/>
              </a:rPr>
              <a:t> in our project. It can reduce data size drastically thus saving time and reducing files to a greater extent.</a:t>
            </a:r>
          </a:p>
          <a:p>
            <a:endParaRPr lang="en-PK" dirty="0"/>
          </a:p>
        </p:txBody>
      </p:sp>
      <p:sp>
        <p:nvSpPr>
          <p:cNvPr id="4" name="Slide Number Placeholder 3"/>
          <p:cNvSpPr>
            <a:spLocks noGrp="1"/>
          </p:cNvSpPr>
          <p:nvPr>
            <p:ph type="sldNum" sz="quarter" idx="5"/>
          </p:nvPr>
        </p:nvSpPr>
        <p:spPr/>
        <p:txBody>
          <a:bodyPr/>
          <a:lstStyle/>
          <a:p>
            <a:fld id="{47976F9A-0986-4A43-AA9C-05B46DA62014}" type="slidenum">
              <a:rPr lang="en-PK" smtClean="0"/>
              <a:t>6</a:t>
            </a:fld>
            <a:endParaRPr lang="en-PK"/>
          </a:p>
        </p:txBody>
      </p:sp>
    </p:spTree>
    <p:extLst>
      <p:ext uri="{BB962C8B-B14F-4D97-AF65-F5344CB8AC3E}">
        <p14:creationId xmlns:p14="http://schemas.microsoft.com/office/powerpoint/2010/main" val="1210291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effectLst/>
                <a:latin typeface="Helvetica Neue" panose="02000503000000020004" pitchFamily="2" charset="0"/>
              </a:rPr>
              <a:t>Huffman compression works by first reading the files and counting the frequencies of each letters. After we have the frequencies along with the </a:t>
            </a:r>
            <a:r>
              <a:rPr lang="en-GB" dirty="0" err="1">
                <a:effectLst/>
                <a:latin typeface="Helvetica Neue" panose="02000503000000020004" pitchFamily="2" charset="0"/>
              </a:rPr>
              <a:t>ltters</a:t>
            </a:r>
            <a:r>
              <a:rPr lang="en-GB" dirty="0">
                <a:effectLst/>
                <a:latin typeface="Helvetica Neue" panose="02000503000000020004" pitchFamily="2" charset="0"/>
              </a:rPr>
              <a:t>, we make a tree, assigning 0s to the left side and 1s on the right side. This process is done until every letter is in that tree. </a:t>
            </a:r>
            <a:r>
              <a:rPr lang="en-GB" dirty="0" err="1">
                <a:effectLst/>
                <a:latin typeface="Helvetica Neue" panose="02000503000000020004" pitchFamily="2" charset="0"/>
              </a:rPr>
              <a:t>Latsly</a:t>
            </a:r>
            <a:r>
              <a:rPr lang="en-GB" dirty="0">
                <a:effectLst/>
                <a:latin typeface="Helvetica Neue" panose="02000503000000020004" pitchFamily="2" charset="0"/>
              </a:rPr>
              <a:t> now comes the encoding part where we traverse the tree </a:t>
            </a:r>
            <a:r>
              <a:rPr lang="en-GB" dirty="0" err="1">
                <a:effectLst/>
                <a:latin typeface="Helvetica Neue" panose="02000503000000020004" pitchFamily="2" charset="0"/>
              </a:rPr>
              <a:t>upto</a:t>
            </a:r>
            <a:r>
              <a:rPr lang="en-GB" dirty="0">
                <a:effectLst/>
                <a:latin typeface="Helvetica Neue" panose="02000503000000020004" pitchFamily="2" charset="0"/>
              </a:rPr>
              <a:t> each alphabet and the binary codes </a:t>
            </a:r>
            <a:r>
              <a:rPr lang="en-GB" dirty="0" err="1">
                <a:effectLst/>
                <a:latin typeface="Helvetica Neue" panose="02000503000000020004" pitchFamily="2" charset="0"/>
              </a:rPr>
              <a:t>i.e</a:t>
            </a:r>
            <a:r>
              <a:rPr lang="en-GB" dirty="0">
                <a:effectLst/>
                <a:latin typeface="Helvetica Neue" panose="02000503000000020004" pitchFamily="2" charset="0"/>
              </a:rPr>
              <a:t> the 0s and 1s we get till that node becomes the unique code for that letter and then that code is stored as an alternative to the ascii code which means less number of bits being used. Now since we have the tree and the unique codes we just reverse the process when it comes to decompression in which the letters we want according to the unique codes we just created. </a:t>
            </a:r>
          </a:p>
          <a:p>
            <a:br>
              <a:rPr lang="en-GB" dirty="0">
                <a:effectLst/>
                <a:latin typeface="Helvetica Neue" panose="02000503000000020004" pitchFamily="2" charset="0"/>
              </a:rPr>
            </a:br>
            <a:endParaRPr lang="en-GB" dirty="0">
              <a:effectLst/>
              <a:latin typeface="Helvetica Neue" panose="02000503000000020004" pitchFamily="2" charset="0"/>
            </a:endParaRPr>
          </a:p>
          <a:p>
            <a:r>
              <a:rPr lang="en-GB" dirty="0">
                <a:effectLst/>
                <a:latin typeface="Helvetica Neue" panose="02000503000000020004" pitchFamily="2" charset="0"/>
              </a:rPr>
              <a:t>Now Abdullah Iqbal will take over the presentation to explain more about our code, its working and testing as well.</a:t>
            </a:r>
          </a:p>
          <a:p>
            <a:endParaRPr lang="en-PK" dirty="0"/>
          </a:p>
        </p:txBody>
      </p:sp>
      <p:sp>
        <p:nvSpPr>
          <p:cNvPr id="4" name="Slide Number Placeholder 3"/>
          <p:cNvSpPr>
            <a:spLocks noGrp="1"/>
          </p:cNvSpPr>
          <p:nvPr>
            <p:ph type="sldNum" sz="quarter" idx="5"/>
          </p:nvPr>
        </p:nvSpPr>
        <p:spPr/>
        <p:txBody>
          <a:bodyPr/>
          <a:lstStyle/>
          <a:p>
            <a:fld id="{47976F9A-0986-4A43-AA9C-05B46DA62014}" type="slidenum">
              <a:rPr lang="en-PK" smtClean="0"/>
              <a:t>7</a:t>
            </a:fld>
            <a:endParaRPr lang="en-PK"/>
          </a:p>
        </p:txBody>
      </p:sp>
    </p:spTree>
    <p:extLst>
      <p:ext uri="{BB962C8B-B14F-4D97-AF65-F5344CB8AC3E}">
        <p14:creationId xmlns:p14="http://schemas.microsoft.com/office/powerpoint/2010/main" val="1755111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47976F9A-0986-4A43-AA9C-05B46DA62014}" type="slidenum">
              <a:rPr lang="en-PK" smtClean="0"/>
              <a:t>8</a:t>
            </a:fld>
            <a:endParaRPr lang="en-PK"/>
          </a:p>
        </p:txBody>
      </p:sp>
    </p:spTree>
    <p:extLst>
      <p:ext uri="{BB962C8B-B14F-4D97-AF65-F5344CB8AC3E}">
        <p14:creationId xmlns:p14="http://schemas.microsoft.com/office/powerpoint/2010/main" val="34118025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12/12/2023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12/12/2023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12/12/2023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12/12/2023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12/12/2023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12/12/2023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12/12/2023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customXml" Target="../ink/ink1.xml" /><Relationship Id="rId2" Type="http://schemas.openxmlformats.org/officeDocument/2006/relationships/notesSlide" Target="../notesSlides/notesSlide4.xml" /><Relationship Id="rId1" Type="http://schemas.openxmlformats.org/officeDocument/2006/relationships/slideLayout" Target="../slideLayouts/slideLayout2.xml" /><Relationship Id="rId4" Type="http://schemas.openxmlformats.org/officeDocument/2006/relationships/image" Target="../media/image4.png" /></Relationships>
</file>

<file path=ppt/slides/_rels/slide5.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5.xml" /><Relationship Id="rId1" Type="http://schemas.openxmlformats.org/officeDocument/2006/relationships/slideLayout" Target="../slideLayouts/slideLayout2.xml" /><Relationship Id="rId6" Type="http://schemas.openxmlformats.org/officeDocument/2006/relationships/image" Target="../media/image8.png" /><Relationship Id="rId5" Type="http://schemas.openxmlformats.org/officeDocument/2006/relationships/image" Target="../media/image7.png" /><Relationship Id="rId4" Type="http://schemas.openxmlformats.org/officeDocument/2006/relationships/image" Target="../media/image6.png"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jpeg" /><Relationship Id="rId2" Type="http://schemas.openxmlformats.org/officeDocument/2006/relationships/notesSlide" Target="../notesSlides/notesSlide8.xml" /><Relationship Id="rId1" Type="http://schemas.openxmlformats.org/officeDocument/2006/relationships/slideLayout" Target="../slideLayouts/slideLayout2.xml" /><Relationship Id="rId5" Type="http://schemas.openxmlformats.org/officeDocument/2006/relationships/image" Target="../media/image10.png" /><Relationship Id="rId4" Type="http://schemas.openxmlformats.org/officeDocument/2006/relationships/image" Target="../media/image9.jpeg" /></Relationships>
</file>

<file path=ppt/slides/_rels/slide9.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jpeg" /><Relationship Id="rId1" Type="http://schemas.openxmlformats.org/officeDocument/2006/relationships/slideLayout" Target="../slideLayouts/slideLayout2.xml" /><Relationship Id="rId4" Type="http://schemas.openxmlformats.org/officeDocument/2006/relationships/image" Target="../media/image11.png" /></Relationships>
</file>

<file path=ppt/slides/_rels/slide10.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16.jpeg" /><Relationship Id="rId2" Type="http://schemas.openxmlformats.org/officeDocument/2006/relationships/image" Target="../media/image15.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18.jpeg" /><Relationship Id="rId2" Type="http://schemas.openxmlformats.org/officeDocument/2006/relationships/image" Target="../media/image17.jpeg"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20.jpeg" /><Relationship Id="rId2" Type="http://schemas.openxmlformats.org/officeDocument/2006/relationships/image" Target="../media/image19.jpe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3" Type="http://schemas.openxmlformats.org/officeDocument/2006/relationships/hyperlink" Target="https://www.sietk.org/downloads/javabook.pdf" TargetMode="External" /><Relationship Id="rId2" Type="http://schemas.openxmlformats.org/officeDocument/2006/relationships/hyperlink" Target="https://e-school.kmutt.ac.th/" TargetMode="External" /><Relationship Id="rId1" Type="http://schemas.openxmlformats.org/officeDocument/2006/relationships/slideLayout" Target="../slideLayouts/slideLayout2.xml" /><Relationship Id="rId5" Type="http://schemas.openxmlformats.org/officeDocument/2006/relationships/hyperlink" Target="https://repository.poltekkes-kaltim.ac.id/1147/1/Guyton%20and%20Hall%20Textbook%20of%20Medical%20Physiology%20(%20PDFDrive%20).pdf" TargetMode="External" /><Relationship Id="rId4" Type="http://schemas.openxmlformats.org/officeDocument/2006/relationships/hyperlink" Target="https://rlmc.edu.pk/themes/images/gallery/library/books/Anatomy/Clinical_Anatomy__Applied_Anatomy_for_Students_and_Junior_Doctors_11th_Edition.pdf" TargetMode="Externa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A8735-8FAE-1BD9-882C-6D6BD63A0781}"/>
              </a:ext>
            </a:extLst>
          </p:cNvPr>
          <p:cNvSpPr>
            <a:spLocks noGrp="1"/>
          </p:cNvSpPr>
          <p:nvPr>
            <p:ph type="ctrTitle"/>
          </p:nvPr>
        </p:nvSpPr>
        <p:spPr/>
        <p:txBody>
          <a:bodyPr>
            <a:normAutofit/>
          </a:bodyPr>
          <a:lstStyle/>
          <a:p>
            <a:r>
              <a:rPr lang="en-PK" sz="5400" dirty="0"/>
              <a:t>Huffman CODING</a:t>
            </a:r>
            <a:r>
              <a:rPr lang="en-US" sz="5400" b="0" i="0" dirty="0">
                <a:effectLst/>
                <a:latin typeface="Söhne"/>
              </a:rPr>
              <a:t> for File Compression</a:t>
            </a:r>
            <a:endParaRPr lang="en-PK" sz="5400" dirty="0"/>
          </a:p>
        </p:txBody>
      </p:sp>
      <p:sp>
        <p:nvSpPr>
          <p:cNvPr id="3" name="Subtitle 2">
            <a:extLst>
              <a:ext uri="{FF2B5EF4-FFF2-40B4-BE49-F238E27FC236}">
                <a16:creationId xmlns:a16="http://schemas.microsoft.com/office/drawing/2014/main" id="{56E4409B-12CF-87C5-495F-CD33A4BA9A8B}"/>
              </a:ext>
            </a:extLst>
          </p:cNvPr>
          <p:cNvSpPr>
            <a:spLocks noGrp="1"/>
          </p:cNvSpPr>
          <p:nvPr>
            <p:ph type="subTitle" idx="1"/>
          </p:nvPr>
        </p:nvSpPr>
        <p:spPr/>
        <p:txBody>
          <a:bodyPr>
            <a:normAutofit fontScale="92500" lnSpcReduction="20000"/>
          </a:bodyPr>
          <a:lstStyle/>
          <a:p>
            <a:r>
              <a:rPr lang="en-PK" dirty="0"/>
              <a:t>Data structure project by</a:t>
            </a:r>
          </a:p>
          <a:p>
            <a:r>
              <a:rPr lang="en-PK" dirty="0"/>
              <a:t>ABDULLAH IQBAL 26904</a:t>
            </a:r>
          </a:p>
          <a:p>
            <a:r>
              <a:rPr lang="en-PK" dirty="0"/>
              <a:t>Abdullah khalid 26969</a:t>
            </a:r>
          </a:p>
          <a:p>
            <a:r>
              <a:rPr lang="en-GB" dirty="0"/>
              <a:t>A</a:t>
            </a:r>
            <a:r>
              <a:rPr lang="en-PK" dirty="0"/>
              <a:t>bdullah ahmedani 25896</a:t>
            </a:r>
          </a:p>
          <a:p>
            <a:endParaRPr lang="en-PK" dirty="0"/>
          </a:p>
        </p:txBody>
      </p:sp>
    </p:spTree>
    <p:extLst>
      <p:ext uri="{BB962C8B-B14F-4D97-AF65-F5344CB8AC3E}">
        <p14:creationId xmlns:p14="http://schemas.microsoft.com/office/powerpoint/2010/main" val="137582473"/>
      </p:ext>
    </p:extLst>
  </p:cSld>
  <p:clrMapOvr>
    <a:masterClrMapping/>
  </p:clrMapOvr>
  <mc:AlternateContent xmlns:mc="http://schemas.openxmlformats.org/markup-compatibility/2006" xmlns:p14="http://schemas.microsoft.com/office/powerpoint/2010/main">
    <mc:Choice Requires="p14">
      <p:transition spd="slow" p14:dur="2000" advTm="28531"/>
    </mc:Choice>
    <mc:Fallback xmlns="">
      <p:transition spd="slow" advTm="2853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D931C-BFEB-28B7-CCBE-FC3BDC0A79A6}"/>
              </a:ext>
            </a:extLst>
          </p:cNvPr>
          <p:cNvSpPr>
            <a:spLocks noGrp="1"/>
          </p:cNvSpPr>
          <p:nvPr>
            <p:ph type="title"/>
          </p:nvPr>
        </p:nvSpPr>
        <p:spPr/>
        <p:txBody>
          <a:bodyPr/>
          <a:lstStyle/>
          <a:p>
            <a:r>
              <a:rPr lang="en-PK" dirty="0"/>
              <a:t>contents</a:t>
            </a:r>
          </a:p>
        </p:txBody>
      </p:sp>
      <p:sp>
        <p:nvSpPr>
          <p:cNvPr id="3" name="Content Placeholder 2">
            <a:extLst>
              <a:ext uri="{FF2B5EF4-FFF2-40B4-BE49-F238E27FC236}">
                <a16:creationId xmlns:a16="http://schemas.microsoft.com/office/drawing/2014/main" id="{E1010CCA-68D9-1814-1018-09838A3ED04B}"/>
              </a:ext>
            </a:extLst>
          </p:cNvPr>
          <p:cNvSpPr>
            <a:spLocks noGrp="1"/>
          </p:cNvSpPr>
          <p:nvPr>
            <p:ph idx="1"/>
          </p:nvPr>
        </p:nvSpPr>
        <p:spPr/>
        <p:txBody>
          <a:bodyPr/>
          <a:lstStyle/>
          <a:p>
            <a:r>
              <a:rPr lang="en-GB" dirty="0"/>
              <a:t>Project Introduction</a:t>
            </a:r>
          </a:p>
          <a:p>
            <a:r>
              <a:rPr lang="en-GB" dirty="0"/>
              <a:t>Motivation</a:t>
            </a:r>
          </a:p>
          <a:p>
            <a:r>
              <a:rPr lang="en-GB" dirty="0"/>
              <a:t>Solution/Method</a:t>
            </a:r>
          </a:p>
          <a:p>
            <a:r>
              <a:rPr lang="en-GB" dirty="0"/>
              <a:t>Reasoning to use particular Data Structure</a:t>
            </a:r>
          </a:p>
          <a:p>
            <a:r>
              <a:rPr lang="en-GB" dirty="0"/>
              <a:t>Data – sources &amp; description</a:t>
            </a:r>
          </a:p>
          <a:p>
            <a:r>
              <a:rPr lang="en-GB" dirty="0"/>
              <a:t>Complexity Analysis</a:t>
            </a:r>
          </a:p>
          <a:p>
            <a:endParaRPr lang="en-PK" dirty="0"/>
          </a:p>
        </p:txBody>
      </p:sp>
    </p:spTree>
    <p:extLst>
      <p:ext uri="{BB962C8B-B14F-4D97-AF65-F5344CB8AC3E}">
        <p14:creationId xmlns:p14="http://schemas.microsoft.com/office/powerpoint/2010/main" val="575387438"/>
      </p:ext>
    </p:extLst>
  </p:cSld>
  <p:clrMapOvr>
    <a:masterClrMapping/>
  </p:clrMapOvr>
  <mc:AlternateContent xmlns:mc="http://schemas.openxmlformats.org/markup-compatibility/2006" xmlns:p14="http://schemas.microsoft.com/office/powerpoint/2010/main">
    <mc:Choice Requires="p14">
      <p:transition spd="slow" p14:dur="2000" advTm="30374"/>
    </mc:Choice>
    <mc:Fallback xmlns="">
      <p:transition spd="slow" advTm="3037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D9D10-3045-D4BB-E288-B775AB7AEAE9}"/>
              </a:ext>
            </a:extLst>
          </p:cNvPr>
          <p:cNvSpPr>
            <a:spLocks noGrp="1"/>
          </p:cNvSpPr>
          <p:nvPr>
            <p:ph type="title"/>
          </p:nvPr>
        </p:nvSpPr>
        <p:spPr/>
        <p:txBody>
          <a:bodyPr/>
          <a:lstStyle/>
          <a:p>
            <a:r>
              <a:rPr lang="en-PK" dirty="0"/>
              <a:t>MOTIVATION</a:t>
            </a:r>
          </a:p>
        </p:txBody>
      </p:sp>
      <p:sp>
        <p:nvSpPr>
          <p:cNvPr id="6" name="TextBox 5">
            <a:extLst>
              <a:ext uri="{FF2B5EF4-FFF2-40B4-BE49-F238E27FC236}">
                <a16:creationId xmlns:a16="http://schemas.microsoft.com/office/drawing/2014/main" id="{23337F1A-BC2C-E7E8-D3A6-7DF7C4AD7783}"/>
              </a:ext>
            </a:extLst>
          </p:cNvPr>
          <p:cNvSpPr txBox="1"/>
          <p:nvPr/>
        </p:nvSpPr>
        <p:spPr>
          <a:xfrm>
            <a:off x="4833912" y="7395642"/>
            <a:ext cx="5510237" cy="369332"/>
          </a:xfrm>
          <a:prstGeom prst="rect">
            <a:avLst/>
          </a:prstGeom>
          <a:noFill/>
        </p:spPr>
        <p:txBody>
          <a:bodyPr wrap="square" rtlCol="0">
            <a:spAutoFit/>
          </a:bodyPr>
          <a:lstStyle/>
          <a:p>
            <a:endParaRPr lang="en-PK" sz="900" dirty="0"/>
          </a:p>
          <a:p>
            <a:endParaRPr lang="en-PK" sz="900" dirty="0"/>
          </a:p>
        </p:txBody>
      </p:sp>
      <p:sp>
        <p:nvSpPr>
          <p:cNvPr id="10" name="TextBox 9">
            <a:extLst>
              <a:ext uri="{FF2B5EF4-FFF2-40B4-BE49-F238E27FC236}">
                <a16:creationId xmlns:a16="http://schemas.microsoft.com/office/drawing/2014/main" id="{F89ED95B-7AAE-2E1C-AF52-DD6B87669D66}"/>
              </a:ext>
            </a:extLst>
          </p:cNvPr>
          <p:cNvSpPr txBox="1"/>
          <p:nvPr/>
        </p:nvSpPr>
        <p:spPr>
          <a:xfrm>
            <a:off x="1141413" y="2340880"/>
            <a:ext cx="6103916" cy="3368871"/>
          </a:xfrm>
          <a:prstGeom prst="rect">
            <a:avLst/>
          </a:prstGeom>
          <a:noFill/>
        </p:spPr>
        <p:txBody>
          <a:bodyPr wrap="square">
            <a:spAutoFit/>
          </a:bodyPr>
          <a:lstStyle/>
          <a:p>
            <a:pPr algn="l" rtl="0" eaLnBrk="1" latinLnBrk="0" hangingPunct="1">
              <a:lnSpc>
                <a:spcPct val="120000"/>
              </a:lnSpc>
              <a:spcBef>
                <a:spcPts val="1000"/>
              </a:spcBef>
              <a:spcAft>
                <a:spcPts val="0"/>
              </a:spcAft>
              <a:buClrTx/>
              <a:buSzPct val="125000"/>
            </a:pPr>
            <a:r>
              <a:rPr lang="en-GB" dirty="0">
                <a:solidFill>
                  <a:srgbClr val="FFFFFF"/>
                </a:solidFill>
                <a:latin typeface="Tw Cen MT" panose="020B0602020104020603" pitchFamily="34" charset="77"/>
              </a:rPr>
              <a:t>ANNA IS A DATA SCIENTIST WORKING REMOTELY.</a:t>
            </a:r>
          </a:p>
          <a:p>
            <a:pPr algn="l" rtl="0" eaLnBrk="1" latinLnBrk="0" hangingPunct="1">
              <a:lnSpc>
                <a:spcPct val="120000"/>
              </a:lnSpc>
              <a:spcBef>
                <a:spcPts val="1000"/>
              </a:spcBef>
              <a:spcAft>
                <a:spcPts val="0"/>
              </a:spcAft>
              <a:buClrTx/>
              <a:buSzPct val="125000"/>
            </a:pPr>
            <a:endParaRPr lang="en-GB" dirty="0">
              <a:solidFill>
                <a:srgbClr val="FFFFFF"/>
              </a:solidFill>
              <a:latin typeface="Tw Cen MT" panose="020B0602020104020603" pitchFamily="34" charset="77"/>
            </a:endParaRPr>
          </a:p>
          <a:p>
            <a:pPr algn="l" rtl="0" eaLnBrk="1" latinLnBrk="0" hangingPunct="1">
              <a:lnSpc>
                <a:spcPct val="120000"/>
              </a:lnSpc>
              <a:spcBef>
                <a:spcPts val="1000"/>
              </a:spcBef>
              <a:spcAft>
                <a:spcPts val="0"/>
              </a:spcAft>
              <a:buClrTx/>
              <a:buSzPct val="125000"/>
            </a:pPr>
            <a:r>
              <a:rPr lang="en-GB" dirty="0">
                <a:solidFill>
                  <a:srgbClr val="FFFFFF"/>
                </a:solidFill>
                <a:latin typeface="Tw Cen MT" panose="020B0602020104020603" pitchFamily="34" charset="77"/>
              </a:rPr>
              <a:t>SHE WANTS TO SEND A LARGE DATA FILES TO A COMPANY IN UNITED STATES.</a:t>
            </a:r>
          </a:p>
          <a:p>
            <a:pPr algn="l" rtl="0" eaLnBrk="1" latinLnBrk="0" hangingPunct="1">
              <a:lnSpc>
                <a:spcPct val="120000"/>
              </a:lnSpc>
              <a:spcBef>
                <a:spcPts val="1000"/>
              </a:spcBef>
              <a:spcAft>
                <a:spcPts val="0"/>
              </a:spcAft>
              <a:buClrTx/>
              <a:buSzPct val="125000"/>
            </a:pPr>
            <a:endParaRPr lang="en-GB" dirty="0">
              <a:solidFill>
                <a:srgbClr val="FFFFFF"/>
              </a:solidFill>
              <a:latin typeface="Tw Cen MT" panose="020B0602020104020603" pitchFamily="34" charset="77"/>
            </a:endParaRPr>
          </a:p>
          <a:p>
            <a:pPr algn="l" rtl="0" eaLnBrk="1" latinLnBrk="0" hangingPunct="1">
              <a:lnSpc>
                <a:spcPct val="120000"/>
              </a:lnSpc>
              <a:spcBef>
                <a:spcPts val="1000"/>
              </a:spcBef>
              <a:spcAft>
                <a:spcPts val="0"/>
              </a:spcAft>
              <a:buClrTx/>
              <a:buSzPct val="125000"/>
            </a:pPr>
            <a:endParaRPr lang="en-GB" dirty="0">
              <a:solidFill>
                <a:srgbClr val="FFFFFF"/>
              </a:solidFill>
              <a:latin typeface="Tw Cen MT" panose="020B0602020104020603" pitchFamily="34" charset="77"/>
            </a:endParaRPr>
          </a:p>
          <a:p>
            <a:pPr algn="l" rtl="0" eaLnBrk="1" latinLnBrk="0" hangingPunct="1">
              <a:lnSpc>
                <a:spcPct val="120000"/>
              </a:lnSpc>
              <a:spcBef>
                <a:spcPts val="1000"/>
              </a:spcBef>
              <a:spcAft>
                <a:spcPts val="0"/>
              </a:spcAft>
              <a:buClrTx/>
              <a:buSzPct val="125000"/>
            </a:pPr>
            <a:r>
              <a:rPr lang="en-GB" dirty="0">
                <a:solidFill>
                  <a:srgbClr val="FFFFFF"/>
                </a:solidFill>
                <a:latin typeface="Tw Cen MT" panose="020B0602020104020603" pitchFamily="34" charset="77"/>
              </a:rPr>
              <a:t>HOWEVER THE LARGE DATA SIZE OF THE FILES MAKES IT NEARLY IMPOSSIBLE AND TIME CONSUMING!</a:t>
            </a:r>
          </a:p>
        </p:txBody>
      </p:sp>
      <p:pic>
        <p:nvPicPr>
          <p:cNvPr id="14" name="Content Placeholder 13" descr="A person sitting at a desk with a computer&#10;&#10;Description automatically generated">
            <a:extLst>
              <a:ext uri="{FF2B5EF4-FFF2-40B4-BE49-F238E27FC236}">
                <a16:creationId xmlns:a16="http://schemas.microsoft.com/office/drawing/2014/main" id="{40828D43-AFB4-CD09-8E57-09260A33EF67}"/>
              </a:ext>
            </a:extLst>
          </p:cNvPr>
          <p:cNvPicPr>
            <a:picLocks noGrp="1" noChangeAspect="1"/>
          </p:cNvPicPr>
          <p:nvPr>
            <p:ph idx="1"/>
          </p:nvPr>
        </p:nvPicPr>
        <p:blipFill>
          <a:blip r:embed="rId3"/>
          <a:stretch>
            <a:fillRect/>
          </a:stretch>
        </p:blipFill>
        <p:spPr>
          <a:xfrm>
            <a:off x="2185340" y="-701925"/>
            <a:ext cx="8862071" cy="6656400"/>
          </a:xfrm>
        </p:spPr>
      </p:pic>
    </p:spTree>
    <p:extLst>
      <p:ext uri="{BB962C8B-B14F-4D97-AF65-F5344CB8AC3E}">
        <p14:creationId xmlns:p14="http://schemas.microsoft.com/office/powerpoint/2010/main" val="147498591"/>
      </p:ext>
    </p:extLst>
  </p:cSld>
  <p:clrMapOvr>
    <a:masterClrMapping/>
  </p:clrMapOvr>
  <mc:AlternateContent xmlns:mc="http://schemas.openxmlformats.org/markup-compatibility/2006" xmlns:p14="http://schemas.microsoft.com/office/powerpoint/2010/main">
    <mc:Choice Requires="p14">
      <p:transition spd="slow" p14:dur="2000" advTm="27899"/>
    </mc:Choice>
    <mc:Fallback xmlns="">
      <p:transition spd="slow" advTm="2789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4FCB5-276D-3DF0-F1C1-9DBC9AF1BFC7}"/>
              </a:ext>
            </a:extLst>
          </p:cNvPr>
          <p:cNvSpPr>
            <a:spLocks noGrp="1"/>
          </p:cNvSpPr>
          <p:nvPr>
            <p:ph type="title"/>
          </p:nvPr>
        </p:nvSpPr>
        <p:spPr/>
        <p:txBody>
          <a:bodyPr/>
          <a:lstStyle/>
          <a:p>
            <a:r>
              <a:rPr lang="en-PK" dirty="0"/>
              <a:t>WHY WAS IT TIME CONSUMING &amp; NEARLY IMPOSSIBLE TO SHARE LARGE DATA FILES?</a:t>
            </a:r>
          </a:p>
        </p:txBody>
      </p:sp>
      <p:sp>
        <p:nvSpPr>
          <p:cNvPr id="3" name="Content Placeholder 2">
            <a:extLst>
              <a:ext uri="{FF2B5EF4-FFF2-40B4-BE49-F238E27FC236}">
                <a16:creationId xmlns:a16="http://schemas.microsoft.com/office/drawing/2014/main" id="{95DAB2B0-3E2C-8C3C-4F52-0CAC71673F3A}"/>
              </a:ext>
            </a:extLst>
          </p:cNvPr>
          <p:cNvSpPr>
            <a:spLocks noGrp="1"/>
          </p:cNvSpPr>
          <p:nvPr>
            <p:ph idx="1"/>
          </p:nvPr>
        </p:nvSpPr>
        <p:spPr>
          <a:xfrm>
            <a:off x="1009399" y="2042553"/>
            <a:ext cx="10311141" cy="3843648"/>
          </a:xfrm>
        </p:spPr>
        <p:txBody>
          <a:bodyPr>
            <a:normAutofit fontScale="70000" lnSpcReduction="20000"/>
          </a:bodyPr>
          <a:lstStyle/>
          <a:p>
            <a:pPr algn="l"/>
            <a:r>
              <a:rPr lang="en-GB" sz="2600" b="1" dirty="0"/>
              <a:t>Infrastructure Limitations:</a:t>
            </a:r>
          </a:p>
          <a:p>
            <a:pPr marL="0" indent="0" algn="l">
              <a:buNone/>
            </a:pPr>
            <a:r>
              <a:rPr lang="en-GB" dirty="0"/>
              <a:t>The infrastructure of the platforms or services used for file sharing may have limitations on the size of files that can be uploaded or downloaded. This can lead to additional steps or the need to split files, adding to the time-consuming nature of the process.</a:t>
            </a:r>
          </a:p>
          <a:p>
            <a:pPr algn="l"/>
            <a:r>
              <a:rPr lang="en-GB" sz="2600" b="1" dirty="0"/>
              <a:t>File Size:</a:t>
            </a:r>
          </a:p>
          <a:p>
            <a:pPr marL="0" indent="0" algn="l">
              <a:buNone/>
            </a:pPr>
            <a:r>
              <a:rPr lang="en-GB" dirty="0"/>
              <a:t>Large data text files tend to have a considerable size. Transmitting such large files over the internet requires more time due to the volume of data that needs to be transferred.</a:t>
            </a:r>
          </a:p>
          <a:p>
            <a:r>
              <a:rPr lang="en-GB" sz="2600" b="1" i="0" dirty="0">
                <a:effectLst/>
                <a:latin typeface="Söhne"/>
              </a:rPr>
              <a:t>Server Load:</a:t>
            </a:r>
            <a:endParaRPr lang="en-GB" sz="2600" b="0" i="0" dirty="0">
              <a:effectLst/>
              <a:latin typeface="Söhne"/>
            </a:endParaRPr>
          </a:p>
          <a:p>
            <a:pPr marL="0" indent="0">
              <a:buNone/>
            </a:pPr>
            <a:r>
              <a:rPr lang="en-GB" b="0" i="0" dirty="0">
                <a:effectLst/>
                <a:latin typeface="Söhne"/>
              </a:rPr>
              <a:t>The server on which the files are hosted may experience heavy loads, particularly on popular platforms or during peak usage times. This can lead to slower processing speeds and increased wait times for file transfers.</a:t>
            </a:r>
          </a:p>
          <a:p>
            <a:pPr marL="0" indent="0">
              <a:buNone/>
            </a:pPr>
            <a:endParaRPr lang="en-GB" dirty="0"/>
          </a:p>
          <a:p>
            <a:pPr algn="l">
              <a:buFont typeface="Arial" panose="020B0604020202020204" pitchFamily="34" charset="0"/>
              <a:buChar char="•"/>
            </a:pPr>
            <a:endParaRPr lang="en-GB" b="0" i="0" dirty="0">
              <a:solidFill>
                <a:srgbClr val="374151"/>
              </a:solidFill>
              <a:effectLst/>
              <a:latin typeface="Söhne"/>
            </a:endParaRP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B2D1FBC1-7FF4-D6BF-D79B-22B7FFDCB0FB}"/>
                  </a:ext>
                </a:extLst>
              </p14:cNvPr>
              <p14:cNvContentPartPr/>
              <p14:nvPr/>
            </p14:nvContentPartPr>
            <p14:xfrm>
              <a:off x="3209040" y="4411080"/>
              <a:ext cx="360" cy="360"/>
            </p14:xfrm>
          </p:contentPart>
        </mc:Choice>
        <mc:Fallback xmlns="">
          <p:pic>
            <p:nvPicPr>
              <p:cNvPr id="14" name="Ink 13">
                <a:extLst>
                  <a:ext uri="{FF2B5EF4-FFF2-40B4-BE49-F238E27FC236}">
                    <a16:creationId xmlns:a16="http://schemas.microsoft.com/office/drawing/2014/main" id="{B2D1FBC1-7FF4-D6BF-D79B-22B7FFDCB0FB}"/>
                  </a:ext>
                </a:extLst>
              </p:cNvPr>
              <p:cNvPicPr/>
              <p:nvPr/>
            </p:nvPicPr>
            <p:blipFill>
              <a:blip r:embed="rId4"/>
              <a:stretch>
                <a:fillRect/>
              </a:stretch>
            </p:blipFill>
            <p:spPr>
              <a:xfrm>
                <a:off x="3199680" y="4401720"/>
                <a:ext cx="19080" cy="19080"/>
              </a:xfrm>
              <a:prstGeom prst="rect">
                <a:avLst/>
              </a:prstGeom>
            </p:spPr>
          </p:pic>
        </mc:Fallback>
      </mc:AlternateContent>
    </p:spTree>
    <p:extLst>
      <p:ext uri="{BB962C8B-B14F-4D97-AF65-F5344CB8AC3E}">
        <p14:creationId xmlns:p14="http://schemas.microsoft.com/office/powerpoint/2010/main" val="2729236294"/>
      </p:ext>
    </p:extLst>
  </p:cSld>
  <p:clrMapOvr>
    <a:masterClrMapping/>
  </p:clrMapOvr>
  <mc:AlternateContent xmlns:mc="http://schemas.openxmlformats.org/markup-compatibility/2006" xmlns:p14="http://schemas.microsoft.com/office/powerpoint/2010/main">
    <mc:Choice Requires="p14">
      <p:transition spd="slow" p14:dur="2000" advTm="35570"/>
    </mc:Choice>
    <mc:Fallback xmlns="">
      <p:transition spd="slow" advTm="3557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C73B2-13EB-CED5-A3B7-434847E2C49A}"/>
              </a:ext>
            </a:extLst>
          </p:cNvPr>
          <p:cNvSpPr>
            <a:spLocks noGrp="1"/>
          </p:cNvSpPr>
          <p:nvPr>
            <p:ph type="title"/>
          </p:nvPr>
        </p:nvSpPr>
        <p:spPr/>
        <p:txBody>
          <a:bodyPr/>
          <a:lstStyle/>
          <a:p>
            <a:r>
              <a:rPr lang="en-PK" dirty="0"/>
              <a:t>W</a:t>
            </a:r>
            <a:r>
              <a:rPr lang="en-GB" dirty="0"/>
              <a:t>h</a:t>
            </a:r>
            <a:r>
              <a:rPr lang="en-PK" dirty="0"/>
              <a:t>at is the solution for this ?</a:t>
            </a:r>
          </a:p>
        </p:txBody>
      </p:sp>
      <p:sp>
        <p:nvSpPr>
          <p:cNvPr id="3" name="Content Placeholder 2">
            <a:extLst>
              <a:ext uri="{FF2B5EF4-FFF2-40B4-BE49-F238E27FC236}">
                <a16:creationId xmlns:a16="http://schemas.microsoft.com/office/drawing/2014/main" id="{0F65FDA5-A1DE-EC1E-4A08-BD1AFF4E2D71}"/>
              </a:ext>
            </a:extLst>
          </p:cNvPr>
          <p:cNvSpPr>
            <a:spLocks noGrp="1"/>
          </p:cNvSpPr>
          <p:nvPr>
            <p:ph idx="1"/>
          </p:nvPr>
        </p:nvSpPr>
        <p:spPr/>
        <p:txBody>
          <a:bodyPr>
            <a:normAutofit/>
          </a:bodyPr>
          <a:lstStyle/>
          <a:p>
            <a:r>
              <a:rPr lang="en-PK" sz="2800" dirty="0"/>
              <a:t>Huffman Compression</a:t>
            </a:r>
          </a:p>
        </p:txBody>
      </p:sp>
      <p:pic>
        <p:nvPicPr>
          <p:cNvPr id="2050" name="Picture 2">
            <a:extLst>
              <a:ext uri="{FF2B5EF4-FFF2-40B4-BE49-F238E27FC236}">
                <a16:creationId xmlns:a16="http://schemas.microsoft.com/office/drawing/2014/main" id="{22854D6F-372B-52B6-0450-F27EA6176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4548" y="3326081"/>
            <a:ext cx="2617519" cy="26175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ZIP file format - Free interface icons">
            <a:extLst>
              <a:ext uri="{FF2B5EF4-FFF2-40B4-BE49-F238E27FC236}">
                <a16:creationId xmlns:a16="http://schemas.microsoft.com/office/drawing/2014/main" id="{A4132013-BA65-F66A-C66E-361B28789F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09588" y="3610755"/>
            <a:ext cx="2048165" cy="204816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Big file folder - User Interface &amp; Gesture Icons">
            <a:extLst>
              <a:ext uri="{FF2B5EF4-FFF2-40B4-BE49-F238E27FC236}">
                <a16:creationId xmlns:a16="http://schemas.microsoft.com/office/drawing/2014/main" id="{1BA6FE3D-6299-930B-5615-AAB24F9E78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6736" y="3704110"/>
            <a:ext cx="1861457" cy="186145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5E408FEC-8CC2-0C9A-996C-36D15D3F78B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02808" y="2504964"/>
            <a:ext cx="2398292" cy="2398292"/>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a:extLst>
              <a:ext uri="{FF2B5EF4-FFF2-40B4-BE49-F238E27FC236}">
                <a16:creationId xmlns:a16="http://schemas.microsoft.com/office/drawing/2014/main" id="{D2AD5195-1BFF-6E6D-2229-537A1E02A0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7455" y="2376230"/>
            <a:ext cx="2469049" cy="24690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843937"/>
      </p:ext>
    </p:extLst>
  </p:cSld>
  <p:clrMapOvr>
    <a:masterClrMapping/>
  </p:clrMapOvr>
  <mc:AlternateContent xmlns:mc="http://schemas.openxmlformats.org/markup-compatibility/2006" xmlns:p14="http://schemas.microsoft.com/office/powerpoint/2010/main">
    <mc:Choice Requires="p14">
      <p:transition spd="slow" p14:dur="2000" advTm="36852"/>
    </mc:Choice>
    <mc:Fallback xmlns="">
      <p:transition spd="slow" advTm="3685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C59BD-2F8D-2163-14F1-98A1E6B3A0A1}"/>
              </a:ext>
            </a:extLst>
          </p:cNvPr>
          <p:cNvSpPr>
            <a:spLocks noGrp="1"/>
          </p:cNvSpPr>
          <p:nvPr>
            <p:ph type="title"/>
          </p:nvPr>
        </p:nvSpPr>
        <p:spPr/>
        <p:txBody>
          <a:bodyPr/>
          <a:lstStyle/>
          <a:p>
            <a:r>
              <a:rPr lang="en-PK" dirty="0"/>
              <a:t>wHAT IS HUFFMAN COMPRESSION ?</a:t>
            </a:r>
          </a:p>
        </p:txBody>
      </p:sp>
      <p:sp>
        <p:nvSpPr>
          <p:cNvPr id="3" name="Content Placeholder 2">
            <a:extLst>
              <a:ext uri="{FF2B5EF4-FFF2-40B4-BE49-F238E27FC236}">
                <a16:creationId xmlns:a16="http://schemas.microsoft.com/office/drawing/2014/main" id="{5E5B38C0-CAAC-1B06-FC30-6CDC996AD450}"/>
              </a:ext>
            </a:extLst>
          </p:cNvPr>
          <p:cNvSpPr>
            <a:spLocks noGrp="1"/>
          </p:cNvSpPr>
          <p:nvPr>
            <p:ph idx="1"/>
          </p:nvPr>
        </p:nvSpPr>
        <p:spPr/>
        <p:txBody>
          <a:bodyPr>
            <a:normAutofit fontScale="85000" lnSpcReduction="20000"/>
          </a:bodyPr>
          <a:lstStyle/>
          <a:p>
            <a:r>
              <a:rPr lang="en-US" b="0" i="0" dirty="0">
                <a:effectLst/>
                <a:latin typeface="Söhne"/>
              </a:rPr>
              <a:t>Huffman coding stands as a variable-length prefix coding algorithm, optimizing data compression by assigning shorter codes to more frequently occurring characters and longer codes to less common ones. </a:t>
            </a:r>
          </a:p>
          <a:p>
            <a:r>
              <a:rPr lang="en-US" b="0" i="0" dirty="0">
                <a:effectLst/>
                <a:latin typeface="Söhne"/>
              </a:rPr>
              <a:t>The process involves analyzing character frequencies, constructing a Huffman tree that prioritizes high-frequency characters, and assigning binary codes based on the tree structure. Shorter codes are designated to characters higher in frequency, streamlining the representation of frequently used elements.</a:t>
            </a:r>
          </a:p>
          <a:p>
            <a:r>
              <a:rPr lang="en-US" b="0" i="0" dirty="0">
                <a:effectLst/>
                <a:latin typeface="Söhne"/>
              </a:rPr>
              <a:t> The construction of the Huffman tree ensures that no code is a prefix of another, ensuring efficient decoding. Overall, Huffman coding offers a compact and efficient approach to data compression, making it a widely used technique in various applications.</a:t>
            </a:r>
          </a:p>
          <a:p>
            <a:endParaRPr lang="en-PK" dirty="0"/>
          </a:p>
        </p:txBody>
      </p:sp>
    </p:spTree>
    <p:extLst>
      <p:ext uri="{BB962C8B-B14F-4D97-AF65-F5344CB8AC3E}">
        <p14:creationId xmlns:p14="http://schemas.microsoft.com/office/powerpoint/2010/main" val="2431086143"/>
      </p:ext>
    </p:extLst>
  </p:cSld>
  <p:clrMapOvr>
    <a:masterClrMapping/>
  </p:clrMapOvr>
  <mc:AlternateContent xmlns:mc="http://schemas.openxmlformats.org/markup-compatibility/2006" xmlns:p14="http://schemas.microsoft.com/office/powerpoint/2010/main">
    <mc:Choice Requires="p14">
      <p:transition spd="slow" p14:dur="2000" advTm="23218"/>
    </mc:Choice>
    <mc:Fallback xmlns="">
      <p:transition spd="slow" advTm="2321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1C3F9-1C4E-3297-01BC-79C7150F6933}"/>
              </a:ext>
            </a:extLst>
          </p:cNvPr>
          <p:cNvSpPr>
            <a:spLocks noGrp="1"/>
          </p:cNvSpPr>
          <p:nvPr>
            <p:ph type="title"/>
          </p:nvPr>
        </p:nvSpPr>
        <p:spPr/>
        <p:txBody>
          <a:bodyPr/>
          <a:lstStyle/>
          <a:p>
            <a:r>
              <a:rPr lang="en-PK" dirty="0"/>
              <a:t>HOW DOES HUFFMAN COMPRESSION WORKS ?</a:t>
            </a:r>
          </a:p>
        </p:txBody>
      </p:sp>
      <p:sp>
        <p:nvSpPr>
          <p:cNvPr id="3" name="Content Placeholder 2">
            <a:extLst>
              <a:ext uri="{FF2B5EF4-FFF2-40B4-BE49-F238E27FC236}">
                <a16:creationId xmlns:a16="http://schemas.microsoft.com/office/drawing/2014/main" id="{7215CFDB-B25C-AEF8-079F-B94B7B0A6FE4}"/>
              </a:ext>
            </a:extLst>
          </p:cNvPr>
          <p:cNvSpPr>
            <a:spLocks noGrp="1"/>
          </p:cNvSpPr>
          <p:nvPr>
            <p:ph idx="1"/>
          </p:nvPr>
        </p:nvSpPr>
        <p:spPr/>
        <p:txBody>
          <a:bodyPr>
            <a:noAutofit/>
          </a:bodyPr>
          <a:lstStyle/>
          <a:p>
            <a:pPr algn="l">
              <a:buFont typeface="+mj-lt"/>
              <a:buAutoNum type="arabicPeriod"/>
            </a:pPr>
            <a:r>
              <a:rPr lang="en-GB" sz="1800" b="1" i="0" dirty="0">
                <a:effectLst/>
                <a:latin typeface="Söhne"/>
              </a:rPr>
              <a:t>Counting Letters:</a:t>
            </a:r>
            <a:r>
              <a:rPr lang="en-GB" sz="1800" dirty="0">
                <a:latin typeface="Söhne"/>
              </a:rPr>
              <a:t>  </a:t>
            </a:r>
            <a:r>
              <a:rPr lang="en-GB" sz="1800" b="0" i="0" dirty="0">
                <a:effectLst/>
                <a:latin typeface="Söhne"/>
              </a:rPr>
              <a:t>First, we look at how often each letter or symbol appears in our text. We count them up.</a:t>
            </a:r>
          </a:p>
          <a:p>
            <a:pPr algn="l">
              <a:buFont typeface="+mj-lt"/>
              <a:buAutoNum type="arabicPeriod"/>
            </a:pPr>
            <a:r>
              <a:rPr lang="en-GB" sz="1800" b="1" i="0" dirty="0">
                <a:effectLst/>
                <a:latin typeface="Söhne"/>
              </a:rPr>
              <a:t>Codes: </a:t>
            </a:r>
            <a:r>
              <a:rPr lang="en-GB" sz="1800" dirty="0">
                <a:latin typeface="Söhne"/>
              </a:rPr>
              <a:t>Assigning 0 &amp; 1s to the left and right node respectively. </a:t>
            </a:r>
          </a:p>
          <a:p>
            <a:pPr algn="l">
              <a:buFont typeface="+mj-lt"/>
              <a:buAutoNum type="arabicPeriod"/>
            </a:pPr>
            <a:r>
              <a:rPr lang="en-GB" sz="1800" b="1" i="0" dirty="0">
                <a:effectLst/>
                <a:latin typeface="Söhne"/>
              </a:rPr>
              <a:t>Making a Tree:</a:t>
            </a:r>
            <a:r>
              <a:rPr lang="en-GB" sz="1800" dirty="0">
                <a:latin typeface="Söhne"/>
              </a:rPr>
              <a:t> </a:t>
            </a:r>
            <a:r>
              <a:rPr lang="en-GB" sz="1800" b="0" i="0" dirty="0">
                <a:effectLst/>
                <a:latin typeface="Söhne"/>
              </a:rPr>
              <a:t>We organize these unique codes into a tree structure. This tree helps us keep track of which letter has which code.</a:t>
            </a:r>
          </a:p>
          <a:p>
            <a:pPr algn="l">
              <a:buFont typeface="+mj-lt"/>
              <a:buAutoNum type="arabicPeriod"/>
            </a:pPr>
            <a:r>
              <a:rPr lang="en-GB" sz="1800" b="1" i="0" dirty="0">
                <a:effectLst/>
                <a:latin typeface="Söhne"/>
              </a:rPr>
              <a:t>Encoding: </a:t>
            </a:r>
            <a:r>
              <a:rPr lang="en-GB" sz="1800" b="0" i="0" dirty="0">
                <a:effectLst/>
                <a:latin typeface="Söhne"/>
              </a:rPr>
              <a:t>Now, we replace each letter in our text with its unique code and write it in the file. This coded message is shorter than the original text because common letters have short codes.</a:t>
            </a:r>
          </a:p>
          <a:p>
            <a:pPr marL="0" indent="0" algn="l">
              <a:buNone/>
            </a:pPr>
            <a:r>
              <a:rPr lang="en-GB" sz="1800" b="1" i="0" dirty="0">
                <a:effectLst/>
                <a:latin typeface="Söhne"/>
              </a:rPr>
              <a:t>5. Decoding:</a:t>
            </a:r>
            <a:r>
              <a:rPr lang="en-GB" sz="1800" dirty="0">
                <a:latin typeface="Söhne"/>
              </a:rPr>
              <a:t> </a:t>
            </a:r>
            <a:r>
              <a:rPr lang="en-GB" sz="1800" b="0" i="0" dirty="0">
                <a:effectLst/>
                <a:latin typeface="Söhne"/>
              </a:rPr>
              <a:t>The same Huffman tree can be used to de-compress file allowing us to view the original content.</a:t>
            </a:r>
          </a:p>
          <a:p>
            <a:pPr marL="0" indent="0" algn="l">
              <a:buNone/>
            </a:pPr>
            <a:endParaRPr lang="en-GB" sz="1600" b="0" i="0" dirty="0">
              <a:effectLst/>
              <a:latin typeface="Söhne"/>
            </a:endParaRPr>
          </a:p>
        </p:txBody>
      </p:sp>
    </p:spTree>
    <p:extLst>
      <p:ext uri="{BB962C8B-B14F-4D97-AF65-F5344CB8AC3E}">
        <p14:creationId xmlns:p14="http://schemas.microsoft.com/office/powerpoint/2010/main" val="405789954"/>
      </p:ext>
    </p:extLst>
  </p:cSld>
  <p:clrMapOvr>
    <a:masterClrMapping/>
  </p:clrMapOvr>
  <mc:AlternateContent xmlns:mc="http://schemas.openxmlformats.org/markup-compatibility/2006" xmlns:p14="http://schemas.microsoft.com/office/powerpoint/2010/main">
    <mc:Choice Requires="p14">
      <p:transition spd="slow" p14:dur="2000" advTm="61540"/>
    </mc:Choice>
    <mc:Fallback xmlns="">
      <p:transition spd="slow" advTm="6154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BB98D-2439-382B-94DB-AE3B3DDE0898}"/>
              </a:ext>
            </a:extLst>
          </p:cNvPr>
          <p:cNvSpPr>
            <a:spLocks noGrp="1"/>
          </p:cNvSpPr>
          <p:nvPr>
            <p:ph type="title"/>
          </p:nvPr>
        </p:nvSpPr>
        <p:spPr>
          <a:xfrm>
            <a:off x="1141412" y="618518"/>
            <a:ext cx="5894387" cy="1478570"/>
          </a:xfrm>
        </p:spPr>
        <p:txBody>
          <a:bodyPr anchor="b">
            <a:normAutofit/>
          </a:bodyPr>
          <a:lstStyle/>
          <a:p>
            <a:r>
              <a:rPr lang="en-PK" dirty="0"/>
              <a:t>How does our code works ?</a:t>
            </a:r>
          </a:p>
        </p:txBody>
      </p:sp>
      <p:sp>
        <p:nvSpPr>
          <p:cNvPr id="3" name="Content Placeholder 2">
            <a:extLst>
              <a:ext uri="{FF2B5EF4-FFF2-40B4-BE49-F238E27FC236}">
                <a16:creationId xmlns:a16="http://schemas.microsoft.com/office/drawing/2014/main" id="{1AD22F22-81AA-9874-3FA0-A3A03C0C6133}"/>
              </a:ext>
            </a:extLst>
          </p:cNvPr>
          <p:cNvSpPr>
            <a:spLocks noGrp="1"/>
          </p:cNvSpPr>
          <p:nvPr>
            <p:ph idx="1"/>
          </p:nvPr>
        </p:nvSpPr>
        <p:spPr>
          <a:xfrm>
            <a:off x="1141412" y="2249487"/>
            <a:ext cx="5894388" cy="3541714"/>
          </a:xfrm>
        </p:spPr>
        <p:txBody>
          <a:bodyPr>
            <a:normAutofit fontScale="92500" lnSpcReduction="10000"/>
          </a:bodyPr>
          <a:lstStyle/>
          <a:p>
            <a:pPr marL="342900" indent="-342900">
              <a:lnSpc>
                <a:spcPct val="110000"/>
              </a:lnSpc>
              <a:buFont typeface="+mj-lt"/>
              <a:buAutoNum type="arabicPeriod"/>
            </a:pPr>
            <a:r>
              <a:rPr lang="en-GB" b="1" i="0" dirty="0">
                <a:effectLst/>
                <a:latin typeface="Söhne"/>
              </a:rPr>
              <a:t>Frequency Calculation: </a:t>
            </a:r>
          </a:p>
          <a:p>
            <a:pPr>
              <a:lnSpc>
                <a:spcPct val="110000"/>
              </a:lnSpc>
            </a:pPr>
            <a:r>
              <a:rPr lang="en-GB" b="1" i="0" dirty="0">
                <a:effectLst/>
                <a:latin typeface="Söhne"/>
              </a:rPr>
              <a:t>Read each letter from the text file to be compressed using </a:t>
            </a:r>
            <a:r>
              <a:rPr lang="en-GB" b="1" i="0" dirty="0" err="1">
                <a:effectLst/>
                <a:latin typeface="Söhne"/>
              </a:rPr>
              <a:t>FileReader</a:t>
            </a:r>
            <a:r>
              <a:rPr lang="en-GB" b="1" i="0" dirty="0">
                <a:effectLst/>
                <a:latin typeface="Söhne"/>
              </a:rPr>
              <a:t>() built-in class.</a:t>
            </a:r>
          </a:p>
          <a:p>
            <a:pPr>
              <a:lnSpc>
                <a:spcPct val="110000"/>
              </a:lnSpc>
            </a:pPr>
            <a:r>
              <a:rPr lang="en-GB" b="1" dirty="0">
                <a:latin typeface="Söhne"/>
              </a:rPr>
              <a:t>Using HashMap, we calculated the frequency of each letter by first inserting the letters individually and incrementing the corresponding frequencies by searching from in </a:t>
            </a:r>
            <a:r>
              <a:rPr lang="en-GB" b="1" dirty="0" err="1">
                <a:latin typeface="Söhne"/>
              </a:rPr>
              <a:t>hashmap</a:t>
            </a:r>
            <a:r>
              <a:rPr lang="en-GB" b="1" dirty="0">
                <a:latin typeface="Söhne"/>
              </a:rPr>
              <a:t>, keeping the time complexity O(1) in average case in mind.</a:t>
            </a:r>
          </a:p>
          <a:p>
            <a:pPr marL="0" indent="0">
              <a:lnSpc>
                <a:spcPct val="110000"/>
              </a:lnSpc>
              <a:buNone/>
            </a:pPr>
            <a:endParaRPr lang="en-PK" sz="1700" dirty="0"/>
          </a:p>
        </p:txBody>
      </p:sp>
      <p:pic>
        <p:nvPicPr>
          <p:cNvPr id="10" name="Picture 9" descr="A screen shot of a computer program&#10;&#10;Description automatically generated">
            <a:extLst>
              <a:ext uri="{FF2B5EF4-FFF2-40B4-BE49-F238E27FC236}">
                <a16:creationId xmlns:a16="http://schemas.microsoft.com/office/drawing/2014/main" id="{118F7A77-1997-B80E-A4F8-B7DAA6449862}"/>
              </a:ext>
            </a:extLst>
          </p:cNvPr>
          <p:cNvPicPr>
            <a:picLocks noChangeAspect="1"/>
          </p:cNvPicPr>
          <p:nvPr/>
        </p:nvPicPr>
        <p:blipFill rotWithShape="1">
          <a:blip r:embed="rId4"/>
          <a:srcRect r="4399" b="-4"/>
          <a:stretch/>
        </p:blipFill>
        <p:spPr>
          <a:xfrm>
            <a:off x="7619998" y="780235"/>
            <a:ext cx="3425199" cy="2337870"/>
          </a:xfrm>
          <a:custGeom>
            <a:avLst/>
            <a:gdLst/>
            <a:ahLst/>
            <a:cxnLst/>
            <a:rect l="l" t="t" r="r" b="b"/>
            <a:pathLst>
              <a:path w="3425199" h="2337870">
                <a:moveTo>
                  <a:pt x="166465" y="0"/>
                </a:moveTo>
                <a:lnTo>
                  <a:pt x="3425199" y="0"/>
                </a:lnTo>
                <a:lnTo>
                  <a:pt x="3425199" y="2337870"/>
                </a:lnTo>
                <a:lnTo>
                  <a:pt x="0" y="2337870"/>
                </a:lnTo>
                <a:lnTo>
                  <a:pt x="0" y="166465"/>
                </a:lnTo>
                <a:cubicBezTo>
                  <a:pt x="0" y="74529"/>
                  <a:pt x="74529" y="0"/>
                  <a:pt x="166465" y="0"/>
                </a:cubicBezTo>
                <a:close/>
              </a:path>
            </a:pathLst>
          </a:cu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pic>
        <p:nvPicPr>
          <p:cNvPr id="3080" name="Picture 8" descr="A screen shot of a black screen&#10;&#10;Description automatically generated">
            <a:extLst>
              <a:ext uri="{FF2B5EF4-FFF2-40B4-BE49-F238E27FC236}">
                <a16:creationId xmlns:a16="http://schemas.microsoft.com/office/drawing/2014/main" id="{5CA45EE0-6B6E-29B7-EB6E-957A34CBCB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7517"/>
          <a:stretch/>
        </p:blipFill>
        <p:spPr bwMode="auto">
          <a:xfrm>
            <a:off x="7619998" y="3282697"/>
            <a:ext cx="3425199" cy="2337870"/>
          </a:xfrm>
          <a:custGeom>
            <a:avLst/>
            <a:gdLst/>
            <a:ahLst/>
            <a:cxnLst/>
            <a:rect l="l" t="t" r="r" b="b"/>
            <a:pathLst>
              <a:path w="3425199" h="2337870">
                <a:moveTo>
                  <a:pt x="0" y="0"/>
                </a:moveTo>
                <a:lnTo>
                  <a:pt x="3425199" y="0"/>
                </a:lnTo>
                <a:lnTo>
                  <a:pt x="3425199" y="2171405"/>
                </a:lnTo>
                <a:cubicBezTo>
                  <a:pt x="3425199" y="2263341"/>
                  <a:pt x="3350670" y="2337870"/>
                  <a:pt x="3258734" y="2337870"/>
                </a:cubicBezTo>
                <a:lnTo>
                  <a:pt x="0" y="2337870"/>
                </a:lnTo>
                <a:close/>
              </a:path>
            </a:pathLst>
          </a:cu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008802"/>
      </p:ext>
    </p:extLst>
  </p:cSld>
  <p:clrMapOvr>
    <a:masterClrMapping/>
  </p:clrMapOvr>
  <mc:AlternateContent xmlns:mc="http://schemas.openxmlformats.org/markup-compatibility/2006" xmlns:p14="http://schemas.microsoft.com/office/powerpoint/2010/main">
    <mc:Choice Requires="p14">
      <p:transition spd="slow" p14:dur="2000" advTm="2657"/>
    </mc:Choice>
    <mc:Fallback xmlns="">
      <p:transition spd="slow" advTm="2657"/>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1034" name="Rectangle 1033">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036"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8540FF7E-E271-DDD7-80AD-5A93B2D0F6B5}"/>
              </a:ext>
            </a:extLst>
          </p:cNvPr>
          <p:cNvSpPr>
            <a:spLocks noGrp="1"/>
          </p:cNvSpPr>
          <p:nvPr>
            <p:ph type="title"/>
          </p:nvPr>
        </p:nvSpPr>
        <p:spPr>
          <a:xfrm>
            <a:off x="1141413" y="618518"/>
            <a:ext cx="4459286" cy="1478570"/>
          </a:xfrm>
        </p:spPr>
        <p:txBody>
          <a:bodyPr>
            <a:normAutofit/>
          </a:bodyPr>
          <a:lstStyle/>
          <a:p>
            <a:br>
              <a:rPr lang="en-PK" sz="3200" dirty="0"/>
            </a:br>
            <a:endParaRPr lang="en-PK" sz="3200" dirty="0"/>
          </a:p>
        </p:txBody>
      </p:sp>
      <p:sp>
        <p:nvSpPr>
          <p:cNvPr id="3" name="Content Placeholder 2">
            <a:extLst>
              <a:ext uri="{FF2B5EF4-FFF2-40B4-BE49-F238E27FC236}">
                <a16:creationId xmlns:a16="http://schemas.microsoft.com/office/drawing/2014/main" id="{8F03CBD1-2F77-F69E-4ED1-A2AF34A40089}"/>
              </a:ext>
            </a:extLst>
          </p:cNvPr>
          <p:cNvSpPr>
            <a:spLocks noGrp="1"/>
          </p:cNvSpPr>
          <p:nvPr>
            <p:ph idx="1"/>
          </p:nvPr>
        </p:nvSpPr>
        <p:spPr>
          <a:xfrm>
            <a:off x="1254125" y="636587"/>
            <a:ext cx="6387253" cy="5577946"/>
          </a:xfrm>
        </p:spPr>
        <p:txBody>
          <a:bodyPr>
            <a:normAutofit fontScale="70000" lnSpcReduction="20000"/>
          </a:bodyPr>
          <a:lstStyle/>
          <a:p>
            <a:pPr marL="0" indent="0">
              <a:lnSpc>
                <a:spcPct val="110000"/>
              </a:lnSpc>
              <a:buNone/>
            </a:pPr>
            <a:r>
              <a:rPr lang="en-GB" b="1" i="0" dirty="0">
                <a:effectLst/>
                <a:latin typeface="Söhne"/>
              </a:rPr>
              <a:t>2. Create Nodes for Each </a:t>
            </a:r>
            <a:r>
              <a:rPr lang="en-GB" b="1" dirty="0">
                <a:latin typeface="Söhne"/>
              </a:rPr>
              <a:t>letter</a:t>
            </a:r>
            <a:r>
              <a:rPr lang="en-GB" b="1" i="0" dirty="0">
                <a:effectLst/>
                <a:latin typeface="Söhne"/>
              </a:rPr>
              <a:t>:</a:t>
            </a:r>
            <a:endParaRPr lang="en-GB" dirty="0">
              <a:latin typeface="Söhne"/>
            </a:endParaRPr>
          </a:p>
          <a:p>
            <a:pPr marL="0" indent="0">
              <a:lnSpc>
                <a:spcPct val="110000"/>
              </a:lnSpc>
              <a:buNone/>
            </a:pPr>
            <a:r>
              <a:rPr lang="en-GB" b="0" i="0" dirty="0">
                <a:effectLst/>
                <a:latin typeface="Söhne"/>
              </a:rPr>
              <a:t>    Create a Huffman node for each </a:t>
            </a:r>
            <a:r>
              <a:rPr lang="en-GB" dirty="0">
                <a:latin typeface="Söhne"/>
              </a:rPr>
              <a:t>letter</a:t>
            </a:r>
            <a:r>
              <a:rPr lang="en-GB" b="0" i="0" dirty="0">
                <a:effectLst/>
                <a:latin typeface="Söhne"/>
              </a:rPr>
              <a:t>, with the frequency of the </a:t>
            </a:r>
            <a:r>
              <a:rPr lang="en-GB" dirty="0">
                <a:latin typeface="Söhne"/>
              </a:rPr>
              <a:t>letters</a:t>
            </a:r>
            <a:r>
              <a:rPr lang="en-GB" b="0" i="0" dirty="0">
                <a:effectLst/>
                <a:latin typeface="Söhne"/>
              </a:rPr>
              <a:t> as the weight of the node. These nodes initially represent individual characters in the data.</a:t>
            </a:r>
          </a:p>
          <a:p>
            <a:pPr marL="0" indent="0">
              <a:lnSpc>
                <a:spcPct val="110000"/>
              </a:lnSpc>
              <a:buNone/>
            </a:pPr>
            <a:r>
              <a:rPr lang="en-GB" dirty="0">
                <a:latin typeface="Söhne"/>
              </a:rPr>
              <a:t>This Huffman Node class contains;</a:t>
            </a:r>
          </a:p>
          <a:p>
            <a:pPr marL="0" indent="0">
              <a:lnSpc>
                <a:spcPct val="110000"/>
              </a:lnSpc>
              <a:buNone/>
            </a:pPr>
            <a:r>
              <a:rPr lang="en-GB" b="0" i="0" dirty="0">
                <a:effectLst/>
                <a:latin typeface="Söhne"/>
              </a:rPr>
              <a:t>. Data variable of type Byte, F</a:t>
            </a:r>
            <a:r>
              <a:rPr lang="en-GB" dirty="0">
                <a:latin typeface="Söhne"/>
              </a:rPr>
              <a:t>requency as int, and Huffman Left &amp; Right</a:t>
            </a:r>
            <a:endParaRPr lang="en-GB" b="0" i="0" dirty="0">
              <a:effectLst/>
              <a:latin typeface="Söhne"/>
            </a:endParaRPr>
          </a:p>
          <a:p>
            <a:pPr marL="0" indent="0">
              <a:lnSpc>
                <a:spcPct val="110000"/>
              </a:lnSpc>
              <a:buNone/>
            </a:pPr>
            <a:r>
              <a:rPr lang="en-GB" b="1" i="0" dirty="0">
                <a:effectLst/>
                <a:latin typeface="Söhne"/>
              </a:rPr>
              <a:t>3. Build a Priority Queue:</a:t>
            </a:r>
            <a:endParaRPr lang="en-GB" b="0" i="0" dirty="0">
              <a:effectLst/>
              <a:latin typeface="Söhne"/>
            </a:endParaRPr>
          </a:p>
          <a:p>
            <a:pPr marL="0" indent="0">
              <a:lnSpc>
                <a:spcPct val="110000"/>
              </a:lnSpc>
              <a:buNone/>
            </a:pPr>
            <a:r>
              <a:rPr lang="en-GB" dirty="0">
                <a:latin typeface="Söhne"/>
              </a:rPr>
              <a:t>    </a:t>
            </a:r>
            <a:r>
              <a:rPr lang="en-GB" b="0" i="0" dirty="0">
                <a:effectLst/>
                <a:latin typeface="Söhne"/>
              </a:rPr>
              <a:t>Place all the Huffman nodes into a min priority queue, ordering them based on their frequencies. The node with the lowest frequency has the highest priority.</a:t>
            </a:r>
          </a:p>
          <a:p>
            <a:pPr marL="0" indent="0">
              <a:lnSpc>
                <a:spcPct val="110000"/>
              </a:lnSpc>
              <a:buNone/>
            </a:pPr>
            <a:r>
              <a:rPr lang="en-PK" dirty="0"/>
              <a:t>. </a:t>
            </a:r>
            <a:r>
              <a:rPr lang="en-PK" b="1" dirty="0"/>
              <a:t>Why did we use Min-priority queue over here?</a:t>
            </a:r>
          </a:p>
          <a:p>
            <a:pPr marL="0" indent="0">
              <a:lnSpc>
                <a:spcPct val="110000"/>
              </a:lnSpc>
              <a:buNone/>
            </a:pPr>
            <a:r>
              <a:rPr lang="en-PK" dirty="0"/>
              <a:t>Since we have to make Max heap tree.</a:t>
            </a:r>
          </a:p>
          <a:p>
            <a:pPr marL="0" indent="0">
              <a:lnSpc>
                <a:spcPct val="110000"/>
              </a:lnSpc>
              <a:buNone/>
            </a:pPr>
            <a:r>
              <a:rPr lang="en-PK" b="1" dirty="0"/>
              <a:t>.Why do we used Max Heap tree?</a:t>
            </a:r>
          </a:p>
          <a:p>
            <a:pPr marL="0" indent="0">
              <a:lnSpc>
                <a:spcPct val="110000"/>
              </a:lnSpc>
              <a:buNone/>
            </a:pPr>
            <a:r>
              <a:rPr lang="en-PK" dirty="0"/>
              <a:t>Since the letter with the most frequency will be the node of the huffman so no need to be traverse whole list to find letter repeatedly why while file reader and writing.</a:t>
            </a:r>
          </a:p>
          <a:p>
            <a:pPr marL="0" indent="0">
              <a:lnSpc>
                <a:spcPct val="110000"/>
              </a:lnSpc>
              <a:buNone/>
            </a:pPr>
            <a:endParaRPr lang="en-PK" sz="1000" dirty="0"/>
          </a:p>
          <a:p>
            <a:pPr marL="0" indent="0">
              <a:lnSpc>
                <a:spcPct val="110000"/>
              </a:lnSpc>
              <a:buNone/>
            </a:pPr>
            <a:endParaRPr lang="en-PK" sz="1000" dirty="0"/>
          </a:p>
          <a:p>
            <a:pPr marL="0" indent="0">
              <a:lnSpc>
                <a:spcPct val="110000"/>
              </a:lnSpc>
              <a:buNone/>
            </a:pPr>
            <a:endParaRPr lang="en-PK" sz="1000" dirty="0"/>
          </a:p>
          <a:p>
            <a:pPr marL="0" indent="0">
              <a:lnSpc>
                <a:spcPct val="110000"/>
              </a:lnSpc>
              <a:buNone/>
            </a:pPr>
            <a:endParaRPr lang="en-PK" sz="1000" dirty="0"/>
          </a:p>
        </p:txBody>
      </p:sp>
      <p:pic>
        <p:nvPicPr>
          <p:cNvPr id="1029" name="Picture 5" descr="A diagram of a number&#10;&#10;Description automatically generated">
            <a:extLst>
              <a:ext uri="{FF2B5EF4-FFF2-40B4-BE49-F238E27FC236}">
                <a16:creationId xmlns:a16="http://schemas.microsoft.com/office/drawing/2014/main" id="{B839EB80-B9BE-D551-B119-F167C197609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708055" y="3690889"/>
            <a:ext cx="4336307" cy="2412698"/>
          </a:xfrm>
          <a:prstGeom prst="round2DiagRect">
            <a:avLst>
              <a:gd name="adj1" fmla="val 5608"/>
              <a:gd name="adj2" fmla="val 0"/>
            </a:avLst>
          </a:prstGeom>
          <a:no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nvGrpSpPr>
          <p:cNvPr id="1038" name="Group 1037">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039"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1040"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41"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42"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43"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44"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45"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46"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47"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48"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49"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50"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PK"/>
            </a:p>
          </p:txBody>
        </p:sp>
        <p:sp>
          <p:nvSpPr>
            <p:cNvPr id="1051"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52"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53"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54"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55"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PK"/>
            </a:p>
          </p:txBody>
        </p:sp>
        <p:sp>
          <p:nvSpPr>
            <p:cNvPr id="1056"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57"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58"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59"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60"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61"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62"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63"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64"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sp>
          <p:nvSpPr>
            <p:cNvPr id="1065"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PK"/>
            </a:p>
          </p:txBody>
        </p:sp>
      </p:grpSp>
    </p:spTree>
    <p:extLst>
      <p:ext uri="{BB962C8B-B14F-4D97-AF65-F5344CB8AC3E}">
        <p14:creationId xmlns:p14="http://schemas.microsoft.com/office/powerpoint/2010/main" val="11593254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8E5EB-43BC-68C2-89EC-5A2812BE4530}"/>
              </a:ext>
            </a:extLst>
          </p:cNvPr>
          <p:cNvSpPr>
            <a:spLocks noGrp="1"/>
          </p:cNvSpPr>
          <p:nvPr>
            <p:ph type="title"/>
          </p:nvPr>
        </p:nvSpPr>
        <p:spPr>
          <a:xfrm>
            <a:off x="1141413" y="618518"/>
            <a:ext cx="9905998" cy="448281"/>
          </a:xfrm>
        </p:spPr>
        <p:txBody>
          <a:bodyPr>
            <a:normAutofit fontScale="90000"/>
          </a:bodyPr>
          <a:lstStyle/>
          <a:p>
            <a:r>
              <a:rPr lang="en-PK" dirty="0"/>
              <a:t> </a:t>
            </a:r>
          </a:p>
        </p:txBody>
      </p:sp>
      <p:sp>
        <p:nvSpPr>
          <p:cNvPr id="3" name="Content Placeholder 2">
            <a:extLst>
              <a:ext uri="{FF2B5EF4-FFF2-40B4-BE49-F238E27FC236}">
                <a16:creationId xmlns:a16="http://schemas.microsoft.com/office/drawing/2014/main" id="{3100F562-6D08-F90C-CEE1-C87E79475C23}"/>
              </a:ext>
            </a:extLst>
          </p:cNvPr>
          <p:cNvSpPr>
            <a:spLocks noGrp="1"/>
          </p:cNvSpPr>
          <p:nvPr>
            <p:ph idx="1"/>
          </p:nvPr>
        </p:nvSpPr>
        <p:spPr>
          <a:xfrm>
            <a:off x="1141412" y="618518"/>
            <a:ext cx="6572189" cy="5877285"/>
          </a:xfrm>
        </p:spPr>
        <p:txBody>
          <a:bodyPr>
            <a:normAutofit fontScale="77500" lnSpcReduction="20000"/>
          </a:bodyPr>
          <a:lstStyle/>
          <a:p>
            <a:pPr marL="0" indent="0" algn="l">
              <a:buNone/>
            </a:pPr>
            <a:r>
              <a:rPr lang="en-GB" b="1" i="0" dirty="0">
                <a:effectLst/>
                <a:latin typeface="Söhne"/>
              </a:rPr>
              <a:t>4. Build Huffman Tree:</a:t>
            </a:r>
            <a:endParaRPr lang="en-GB" b="0" i="0" dirty="0">
              <a:effectLst/>
              <a:latin typeface="Söhne"/>
            </a:endParaRPr>
          </a:p>
          <a:p>
            <a:pPr marL="0" indent="0" algn="l">
              <a:buNone/>
            </a:pPr>
            <a:r>
              <a:rPr lang="en-GB" b="0" i="0" dirty="0">
                <a:effectLst/>
                <a:latin typeface="Söhne"/>
              </a:rPr>
              <a:t>  While there is more than one node in the priority queue:</a:t>
            </a:r>
          </a:p>
          <a:p>
            <a:pPr marL="742950" lvl="1" indent="-285750" algn="l">
              <a:buFont typeface="Arial" panose="020B0604020202020204" pitchFamily="34" charset="0"/>
              <a:buChar char="•"/>
            </a:pPr>
            <a:r>
              <a:rPr lang="en-GB" b="0" i="0" dirty="0">
                <a:effectLst/>
                <a:latin typeface="Söhne"/>
              </a:rPr>
              <a:t>Remove the two nodes with the lowest frequencies from the queue.</a:t>
            </a:r>
          </a:p>
          <a:p>
            <a:pPr marL="742950" lvl="1" indent="-285750" algn="l">
              <a:buFont typeface="Arial" panose="020B0604020202020204" pitchFamily="34" charset="0"/>
              <a:buChar char="•"/>
            </a:pPr>
            <a:r>
              <a:rPr lang="en-GB" b="0" i="0" dirty="0">
                <a:effectLst/>
                <a:latin typeface="Söhne"/>
              </a:rPr>
              <a:t>Create a new node with a frequency equal to the sum of the frequencies of the two nodes.</a:t>
            </a:r>
          </a:p>
          <a:p>
            <a:pPr marL="742950" lvl="1" indent="-285750" algn="l">
              <a:buFont typeface="Arial" panose="020B0604020202020204" pitchFamily="34" charset="0"/>
              <a:buChar char="•"/>
            </a:pPr>
            <a:r>
              <a:rPr lang="en-GB" b="0" i="0" dirty="0">
                <a:effectLst/>
                <a:latin typeface="Söhne"/>
              </a:rPr>
              <a:t>Insert the new node back into the priority queue.</a:t>
            </a:r>
          </a:p>
          <a:p>
            <a:pPr algn="l">
              <a:buFont typeface="Arial" panose="020B0604020202020204" pitchFamily="34" charset="0"/>
              <a:buChar char="•"/>
            </a:pPr>
            <a:r>
              <a:rPr lang="en-GB" b="0" i="0" dirty="0">
                <a:effectLst/>
                <a:latin typeface="Söhne"/>
              </a:rPr>
              <a:t>The process continues until there is only one node left in the priority queue, which becomes the root of the Huffman tree.</a:t>
            </a:r>
          </a:p>
          <a:p>
            <a:pPr marL="0" indent="0" algn="l">
              <a:buNone/>
            </a:pPr>
            <a:r>
              <a:rPr lang="en-GB" b="1" i="0" dirty="0">
                <a:effectLst/>
                <a:latin typeface="Söhne"/>
              </a:rPr>
              <a:t>. Assign Binary Codes:</a:t>
            </a:r>
            <a:endParaRPr lang="en-GB" b="0" i="0" dirty="0">
              <a:effectLst/>
              <a:latin typeface="Söhne"/>
            </a:endParaRPr>
          </a:p>
          <a:p>
            <a:pPr marL="0" indent="0" algn="l">
              <a:buNone/>
            </a:pPr>
            <a:r>
              <a:rPr lang="en-GB" b="0" i="0" dirty="0">
                <a:effectLst/>
                <a:latin typeface="Söhne"/>
              </a:rPr>
              <a:t>Traverse the Huffman tree to assign binary codes to each symbol. Assign a '0' for each left branch and a '1' for each right branch. The code for a symbol is the sequence of '0's and '1's from the root to the leaf node corresponding to that symbol.</a:t>
            </a:r>
          </a:p>
          <a:p>
            <a:pPr marL="0" indent="0" algn="l">
              <a:buNone/>
            </a:pPr>
            <a:r>
              <a:rPr lang="en-GB" b="0" i="0" dirty="0">
                <a:effectLst/>
                <a:latin typeface="Söhne"/>
              </a:rPr>
              <a:t>After assigning binary codes to each symbol, create a Hash mapping that associates each symbol with its corresponding Huffman code.</a:t>
            </a:r>
          </a:p>
          <a:p>
            <a:pPr algn="l">
              <a:buFont typeface="Arial" panose="020B0604020202020204" pitchFamily="34" charset="0"/>
              <a:buChar char="•"/>
            </a:pPr>
            <a:endParaRPr lang="en-GB" b="0" i="0" dirty="0">
              <a:effectLst/>
              <a:latin typeface="Söhne"/>
            </a:endParaRPr>
          </a:p>
          <a:p>
            <a:endParaRPr lang="en-PK" dirty="0"/>
          </a:p>
        </p:txBody>
      </p:sp>
      <p:pic>
        <p:nvPicPr>
          <p:cNvPr id="1026" name="Picture 2">
            <a:extLst>
              <a:ext uri="{FF2B5EF4-FFF2-40B4-BE49-F238E27FC236}">
                <a16:creationId xmlns:a16="http://schemas.microsoft.com/office/drawing/2014/main" id="{65ECAEAE-68B3-177F-0363-13ABD148C6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3601" y="792188"/>
            <a:ext cx="3924218" cy="4518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4957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DA439-1104-9445-091B-6C1D0E3E2DD3}"/>
              </a:ext>
            </a:extLst>
          </p:cNvPr>
          <p:cNvSpPr>
            <a:spLocks noGrp="1"/>
          </p:cNvSpPr>
          <p:nvPr>
            <p:ph type="title"/>
          </p:nvPr>
        </p:nvSpPr>
        <p:spPr/>
        <p:txBody>
          <a:bodyPr/>
          <a:lstStyle/>
          <a:p>
            <a:r>
              <a:rPr lang="en-PK" dirty="0"/>
              <a:t> </a:t>
            </a:r>
          </a:p>
        </p:txBody>
      </p:sp>
      <p:pic>
        <p:nvPicPr>
          <p:cNvPr id="5" name="Content Placeholder 4" descr="A screenshot of a computer&#10;&#10;Description automatically generated">
            <a:extLst>
              <a:ext uri="{FF2B5EF4-FFF2-40B4-BE49-F238E27FC236}">
                <a16:creationId xmlns:a16="http://schemas.microsoft.com/office/drawing/2014/main" id="{992FF0D3-F47F-BEAF-DF35-259BFEDEBB97}"/>
              </a:ext>
            </a:extLst>
          </p:cNvPr>
          <p:cNvPicPr>
            <a:picLocks noGrp="1" noChangeAspect="1"/>
          </p:cNvPicPr>
          <p:nvPr>
            <p:ph idx="1"/>
          </p:nvPr>
        </p:nvPicPr>
        <p:blipFill>
          <a:blip r:embed="rId2"/>
          <a:stretch>
            <a:fillRect/>
          </a:stretch>
        </p:blipFill>
        <p:spPr>
          <a:xfrm>
            <a:off x="4134346" y="1024765"/>
            <a:ext cx="6857647" cy="4808469"/>
          </a:xfrm>
        </p:spPr>
      </p:pic>
      <p:sp>
        <p:nvSpPr>
          <p:cNvPr id="6" name="TextBox 5">
            <a:extLst>
              <a:ext uri="{FF2B5EF4-FFF2-40B4-BE49-F238E27FC236}">
                <a16:creationId xmlns:a16="http://schemas.microsoft.com/office/drawing/2014/main" id="{F6D74397-5084-C36B-BF8C-50809055A3BC}"/>
              </a:ext>
            </a:extLst>
          </p:cNvPr>
          <p:cNvSpPr txBox="1"/>
          <p:nvPr/>
        </p:nvSpPr>
        <p:spPr>
          <a:xfrm>
            <a:off x="486888" y="2386940"/>
            <a:ext cx="3840757" cy="523220"/>
          </a:xfrm>
          <a:prstGeom prst="rect">
            <a:avLst/>
          </a:prstGeom>
          <a:noFill/>
        </p:spPr>
        <p:txBody>
          <a:bodyPr wrap="square" rtlCol="0">
            <a:spAutoFit/>
          </a:bodyPr>
          <a:lstStyle/>
          <a:p>
            <a:r>
              <a:rPr lang="en-PK" sz="2800" dirty="0"/>
              <a:t>Our Huffman Node </a:t>
            </a:r>
            <a:r>
              <a:rPr lang="en-PK" sz="2000" dirty="0">
                <a:sym typeface="Wingdings" pitchFamily="2" charset="2"/>
              </a:rPr>
              <a:t></a:t>
            </a:r>
            <a:endParaRPr lang="en-PK" sz="2000" dirty="0"/>
          </a:p>
        </p:txBody>
      </p:sp>
    </p:spTree>
    <p:extLst>
      <p:ext uri="{BB962C8B-B14F-4D97-AF65-F5344CB8AC3E}">
        <p14:creationId xmlns:p14="http://schemas.microsoft.com/office/powerpoint/2010/main" val="3804090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B3C8E-AC50-7FBA-EE08-8DCF152B998C}"/>
              </a:ext>
            </a:extLst>
          </p:cNvPr>
          <p:cNvSpPr>
            <a:spLocks noGrp="1"/>
          </p:cNvSpPr>
          <p:nvPr>
            <p:ph type="title"/>
          </p:nvPr>
        </p:nvSpPr>
        <p:spPr/>
        <p:txBody>
          <a:bodyPr/>
          <a:lstStyle/>
          <a:p>
            <a:br>
              <a:rPr lang="en-PK" dirty="0"/>
            </a:br>
            <a:endParaRPr lang="en-PK" dirty="0"/>
          </a:p>
        </p:txBody>
      </p:sp>
      <p:sp>
        <p:nvSpPr>
          <p:cNvPr id="3" name="Content Placeholder 2">
            <a:extLst>
              <a:ext uri="{FF2B5EF4-FFF2-40B4-BE49-F238E27FC236}">
                <a16:creationId xmlns:a16="http://schemas.microsoft.com/office/drawing/2014/main" id="{5CF2F59F-D60D-587F-2FB0-EE0EEE11CFC2}"/>
              </a:ext>
            </a:extLst>
          </p:cNvPr>
          <p:cNvSpPr>
            <a:spLocks noGrp="1"/>
          </p:cNvSpPr>
          <p:nvPr>
            <p:ph idx="1"/>
          </p:nvPr>
        </p:nvSpPr>
        <p:spPr>
          <a:xfrm>
            <a:off x="1141412" y="783771"/>
            <a:ext cx="9905999" cy="5272645"/>
          </a:xfrm>
        </p:spPr>
        <p:txBody>
          <a:bodyPr>
            <a:normAutofit/>
          </a:bodyPr>
          <a:lstStyle/>
          <a:p>
            <a:pPr marL="457200" indent="-457200" algn="l">
              <a:buAutoNum type="arabicPeriod" startAt="5"/>
            </a:pPr>
            <a:r>
              <a:rPr lang="en-GB" b="1" dirty="0">
                <a:latin typeface="Söhne"/>
              </a:rPr>
              <a:t>Compressing Fil</a:t>
            </a:r>
            <a:r>
              <a:rPr lang="en-GB" b="1" i="0" dirty="0">
                <a:effectLst/>
                <a:latin typeface="Söhne"/>
              </a:rPr>
              <a:t>e:</a:t>
            </a:r>
          </a:p>
          <a:p>
            <a:pPr marL="0" indent="0">
              <a:buNone/>
            </a:pPr>
            <a:r>
              <a:rPr lang="en-GB" dirty="0">
                <a:latin typeface="Söhne"/>
              </a:rPr>
              <a:t>Read the contents of the file.</a:t>
            </a:r>
          </a:p>
          <a:p>
            <a:pPr marL="0" indent="0">
              <a:buNone/>
            </a:pPr>
            <a:r>
              <a:rPr lang="en-GB" dirty="0">
                <a:latin typeface="Söhne"/>
              </a:rPr>
              <a:t>Substitute each letter with its respective binary code using the hashmap created.</a:t>
            </a:r>
          </a:p>
          <a:p>
            <a:pPr marL="0" indent="0">
              <a:buNone/>
            </a:pPr>
            <a:r>
              <a:rPr lang="en-GB" dirty="0">
                <a:latin typeface="Söhne"/>
              </a:rPr>
              <a:t>Save the compressed content to a new file.</a:t>
            </a:r>
          </a:p>
          <a:p>
            <a:pPr marL="0" indent="0" algn="l">
              <a:buNone/>
            </a:pPr>
            <a:r>
              <a:rPr lang="en-GB" b="0" i="0" dirty="0">
                <a:effectLst/>
                <a:latin typeface="Söhne"/>
              </a:rPr>
              <a:t>Replace each letter in the original data with its Huffman code (special character). The result is a compressed representation of the input data.</a:t>
            </a:r>
          </a:p>
          <a:p>
            <a:pPr marL="0" indent="0">
              <a:buNone/>
            </a:pPr>
            <a:endParaRPr lang="en-PK" dirty="0"/>
          </a:p>
        </p:txBody>
      </p:sp>
    </p:spTree>
    <p:extLst>
      <p:ext uri="{BB962C8B-B14F-4D97-AF65-F5344CB8AC3E}">
        <p14:creationId xmlns:p14="http://schemas.microsoft.com/office/powerpoint/2010/main" val="3994733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16375-FCA4-5CC9-F0F7-3C6DCC7FC176}"/>
              </a:ext>
            </a:extLst>
          </p:cNvPr>
          <p:cNvSpPr>
            <a:spLocks noGrp="1"/>
          </p:cNvSpPr>
          <p:nvPr>
            <p:ph type="title"/>
          </p:nvPr>
        </p:nvSpPr>
        <p:spPr/>
        <p:txBody>
          <a:bodyPr/>
          <a:lstStyle/>
          <a:p>
            <a:r>
              <a:rPr lang="en-GB" b="1" dirty="0">
                <a:latin typeface="Söhne"/>
              </a:rPr>
              <a:t>6</a:t>
            </a:r>
            <a:r>
              <a:rPr lang="en-GB" b="1" i="0" dirty="0">
                <a:effectLst/>
                <a:latin typeface="Söhne"/>
              </a:rPr>
              <a:t>. Decompression:</a:t>
            </a:r>
            <a:br>
              <a:rPr lang="en-GB" b="0" i="0" dirty="0">
                <a:effectLst/>
                <a:latin typeface="Söhne"/>
              </a:rPr>
            </a:br>
            <a:endParaRPr lang="en-PK" dirty="0"/>
          </a:p>
        </p:txBody>
      </p:sp>
      <p:sp>
        <p:nvSpPr>
          <p:cNvPr id="3" name="Content Placeholder 2">
            <a:extLst>
              <a:ext uri="{FF2B5EF4-FFF2-40B4-BE49-F238E27FC236}">
                <a16:creationId xmlns:a16="http://schemas.microsoft.com/office/drawing/2014/main" id="{58900E14-0049-FD65-C7CF-1D310D52957A}"/>
              </a:ext>
            </a:extLst>
          </p:cNvPr>
          <p:cNvSpPr>
            <a:spLocks noGrp="1"/>
          </p:cNvSpPr>
          <p:nvPr>
            <p:ph idx="1"/>
          </p:nvPr>
        </p:nvSpPr>
        <p:spPr>
          <a:xfrm>
            <a:off x="1141413" y="2528936"/>
            <a:ext cx="6660676" cy="3710545"/>
          </a:xfrm>
        </p:spPr>
        <p:txBody>
          <a:bodyPr>
            <a:normAutofit fontScale="92500"/>
          </a:bodyPr>
          <a:lstStyle/>
          <a:p>
            <a:pPr marL="0" indent="0">
              <a:buNone/>
            </a:pPr>
            <a:r>
              <a:rPr lang="en-PK" dirty="0"/>
              <a:t>Calculate the binary equivalent values of the corresponding characters with the compressed files.</a:t>
            </a:r>
            <a:endParaRPr lang="en-GB" b="0" i="0" dirty="0">
              <a:effectLst/>
              <a:latin typeface="Söhne"/>
            </a:endParaRPr>
          </a:p>
          <a:p>
            <a:pPr marL="0" indent="0" algn="l">
              <a:buNone/>
            </a:pPr>
            <a:r>
              <a:rPr lang="en-GB" b="0" i="0" dirty="0">
                <a:effectLst/>
                <a:latin typeface="Söhne"/>
              </a:rPr>
              <a:t>To decompress, use the stored Huffman tree to traverse the encoded data and reconstruct the original symbols.</a:t>
            </a:r>
          </a:p>
          <a:p>
            <a:pPr marL="0" indent="0" algn="l">
              <a:buNone/>
            </a:pPr>
            <a:r>
              <a:rPr lang="en-GB" b="0" i="0" dirty="0">
                <a:effectLst/>
                <a:latin typeface="Söhne"/>
              </a:rPr>
              <a:t>Huffman coding is efficient for compressing data with varying symbol frequencies, and it's widely used in applications like file compression (e.g., ZIP files) and image compression.</a:t>
            </a:r>
          </a:p>
        </p:txBody>
      </p:sp>
      <p:pic>
        <p:nvPicPr>
          <p:cNvPr id="7" name="Picture 6" descr="A diagram of a tree&#10;&#10;Description automatically generated">
            <a:extLst>
              <a:ext uri="{FF2B5EF4-FFF2-40B4-BE49-F238E27FC236}">
                <a16:creationId xmlns:a16="http://schemas.microsoft.com/office/drawing/2014/main" id="{44FD8092-FE5E-8D2C-72A7-1F43E90EEE25}"/>
              </a:ext>
            </a:extLst>
          </p:cNvPr>
          <p:cNvPicPr>
            <a:picLocks noChangeAspect="1"/>
          </p:cNvPicPr>
          <p:nvPr/>
        </p:nvPicPr>
        <p:blipFill>
          <a:blip r:embed="rId2"/>
          <a:stretch>
            <a:fillRect/>
          </a:stretch>
        </p:blipFill>
        <p:spPr>
          <a:xfrm>
            <a:off x="7087650" y="519178"/>
            <a:ext cx="4577278" cy="3155819"/>
          </a:xfrm>
          <a:prstGeom prst="rect">
            <a:avLst/>
          </a:prstGeom>
        </p:spPr>
      </p:pic>
    </p:spTree>
    <p:extLst>
      <p:ext uri="{BB962C8B-B14F-4D97-AF65-F5344CB8AC3E}">
        <p14:creationId xmlns:p14="http://schemas.microsoft.com/office/powerpoint/2010/main" val="1150253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2518B-8BE1-A15C-CE1C-DB363F2E7F59}"/>
              </a:ext>
            </a:extLst>
          </p:cNvPr>
          <p:cNvSpPr>
            <a:spLocks noGrp="1"/>
          </p:cNvSpPr>
          <p:nvPr>
            <p:ph type="title"/>
          </p:nvPr>
        </p:nvSpPr>
        <p:spPr/>
        <p:txBody>
          <a:bodyPr/>
          <a:lstStyle/>
          <a:p>
            <a:r>
              <a:rPr lang="en-PK" dirty="0"/>
              <a:t> </a:t>
            </a:r>
          </a:p>
        </p:txBody>
      </p:sp>
      <p:pic>
        <p:nvPicPr>
          <p:cNvPr id="5" name="Content Placeholder 4" descr="A screenshot of a computer&#10;&#10;Description automatically generated">
            <a:extLst>
              <a:ext uri="{FF2B5EF4-FFF2-40B4-BE49-F238E27FC236}">
                <a16:creationId xmlns:a16="http://schemas.microsoft.com/office/drawing/2014/main" id="{CD078E25-CD39-0C70-9546-86A3B89D4FD0}"/>
              </a:ext>
            </a:extLst>
          </p:cNvPr>
          <p:cNvPicPr>
            <a:picLocks noGrp="1" noChangeAspect="1"/>
          </p:cNvPicPr>
          <p:nvPr>
            <p:ph idx="1"/>
          </p:nvPr>
        </p:nvPicPr>
        <p:blipFill>
          <a:blip r:embed="rId2"/>
          <a:stretch>
            <a:fillRect/>
          </a:stretch>
        </p:blipFill>
        <p:spPr>
          <a:xfrm>
            <a:off x="143886" y="132051"/>
            <a:ext cx="8677349" cy="3145539"/>
          </a:xfrm>
        </p:spPr>
      </p:pic>
      <p:pic>
        <p:nvPicPr>
          <p:cNvPr id="7" name="Picture 6" descr="A screenshot of a computer screen&#10;&#10;Description automatically generated">
            <a:extLst>
              <a:ext uri="{FF2B5EF4-FFF2-40B4-BE49-F238E27FC236}">
                <a16:creationId xmlns:a16="http://schemas.microsoft.com/office/drawing/2014/main" id="{822A100D-97A0-B79B-D232-E1981C680F59}"/>
              </a:ext>
            </a:extLst>
          </p:cNvPr>
          <p:cNvPicPr>
            <a:picLocks noChangeAspect="1"/>
          </p:cNvPicPr>
          <p:nvPr/>
        </p:nvPicPr>
        <p:blipFill>
          <a:blip r:embed="rId3"/>
          <a:stretch>
            <a:fillRect/>
          </a:stretch>
        </p:blipFill>
        <p:spPr>
          <a:xfrm>
            <a:off x="5415149" y="3408218"/>
            <a:ext cx="6462464" cy="3317731"/>
          </a:xfrm>
          <a:prstGeom prst="rect">
            <a:avLst/>
          </a:prstGeom>
        </p:spPr>
      </p:pic>
    </p:spTree>
    <p:extLst>
      <p:ext uri="{BB962C8B-B14F-4D97-AF65-F5344CB8AC3E}">
        <p14:creationId xmlns:p14="http://schemas.microsoft.com/office/powerpoint/2010/main" val="3151048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8F623-0F7D-9B56-62B5-C808CA1008BC}"/>
              </a:ext>
            </a:extLst>
          </p:cNvPr>
          <p:cNvSpPr>
            <a:spLocks noGrp="1"/>
          </p:cNvSpPr>
          <p:nvPr>
            <p:ph type="title"/>
          </p:nvPr>
        </p:nvSpPr>
        <p:spPr/>
        <p:txBody>
          <a:bodyPr/>
          <a:lstStyle/>
          <a:p>
            <a:r>
              <a:rPr lang="en-PK" dirty="0"/>
              <a:t>WHICH DATA STRUCTURES WE USED ?</a:t>
            </a:r>
          </a:p>
        </p:txBody>
      </p:sp>
      <p:sp>
        <p:nvSpPr>
          <p:cNvPr id="3" name="Content Placeholder 2">
            <a:extLst>
              <a:ext uri="{FF2B5EF4-FFF2-40B4-BE49-F238E27FC236}">
                <a16:creationId xmlns:a16="http://schemas.microsoft.com/office/drawing/2014/main" id="{AD093DB3-4F1A-39A5-8800-BD6678103A01}"/>
              </a:ext>
            </a:extLst>
          </p:cNvPr>
          <p:cNvSpPr>
            <a:spLocks noGrp="1"/>
          </p:cNvSpPr>
          <p:nvPr>
            <p:ph idx="1"/>
          </p:nvPr>
        </p:nvSpPr>
        <p:spPr/>
        <p:txBody>
          <a:bodyPr/>
          <a:lstStyle/>
          <a:p>
            <a:r>
              <a:rPr lang="en-PK" dirty="0"/>
              <a:t>PRIORITY QUEUE</a:t>
            </a:r>
          </a:p>
          <a:p>
            <a:r>
              <a:rPr lang="en-PK" dirty="0"/>
              <a:t>HASHMAP</a:t>
            </a:r>
          </a:p>
          <a:p>
            <a:r>
              <a:rPr lang="en-PK" dirty="0"/>
              <a:t>Max Heap Tree</a:t>
            </a:r>
          </a:p>
          <a:p>
            <a:endParaRPr lang="en-PK" dirty="0"/>
          </a:p>
          <a:p>
            <a:endParaRPr lang="en-PK" dirty="0"/>
          </a:p>
          <a:p>
            <a:r>
              <a:rPr lang="en-PK" dirty="0"/>
              <a:t>More about this in next slide:</a:t>
            </a:r>
            <a:r>
              <a:rPr lang="en-PK" dirty="0">
                <a:sym typeface="Wingdings" pitchFamily="2" charset="2"/>
              </a:rPr>
              <a:t></a:t>
            </a:r>
            <a:endParaRPr lang="en-PK" dirty="0"/>
          </a:p>
        </p:txBody>
      </p:sp>
    </p:spTree>
    <p:extLst>
      <p:ext uri="{BB962C8B-B14F-4D97-AF65-F5344CB8AC3E}">
        <p14:creationId xmlns:p14="http://schemas.microsoft.com/office/powerpoint/2010/main" val="38699869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780A9-D3C2-976A-8C92-D53E08BCABEC}"/>
              </a:ext>
            </a:extLst>
          </p:cNvPr>
          <p:cNvSpPr>
            <a:spLocks noGrp="1"/>
          </p:cNvSpPr>
          <p:nvPr>
            <p:ph type="title"/>
          </p:nvPr>
        </p:nvSpPr>
        <p:spPr/>
        <p:txBody>
          <a:bodyPr/>
          <a:lstStyle/>
          <a:p>
            <a:r>
              <a:rPr lang="en-PK" dirty="0"/>
              <a:t>WHY HASHMAP ?</a:t>
            </a:r>
          </a:p>
        </p:txBody>
      </p:sp>
      <p:sp>
        <p:nvSpPr>
          <p:cNvPr id="3" name="Content Placeholder 2">
            <a:extLst>
              <a:ext uri="{FF2B5EF4-FFF2-40B4-BE49-F238E27FC236}">
                <a16:creationId xmlns:a16="http://schemas.microsoft.com/office/drawing/2014/main" id="{C22C0A13-9936-B3C8-1841-CDDDF08312AA}"/>
              </a:ext>
            </a:extLst>
          </p:cNvPr>
          <p:cNvSpPr>
            <a:spLocks noGrp="1"/>
          </p:cNvSpPr>
          <p:nvPr>
            <p:ph idx="1"/>
          </p:nvPr>
        </p:nvSpPr>
        <p:spPr/>
        <p:txBody>
          <a:bodyPr>
            <a:normAutofit fontScale="47500" lnSpcReduction="20000"/>
          </a:bodyPr>
          <a:lstStyle/>
          <a:p>
            <a:pPr>
              <a:lnSpc>
                <a:spcPct val="140000"/>
              </a:lnSpc>
            </a:pPr>
            <a:r>
              <a:rPr lang="en-GB" sz="3400" dirty="0"/>
              <a:t>Fast Symbol Lookup:</a:t>
            </a:r>
          </a:p>
          <a:p>
            <a:pPr>
              <a:lnSpc>
                <a:spcPct val="140000"/>
              </a:lnSpc>
            </a:pPr>
            <a:r>
              <a:rPr lang="en-GB" sz="3400" dirty="0"/>
              <a:t>Advantage: </a:t>
            </a:r>
            <a:r>
              <a:rPr lang="en-GB" sz="3400" dirty="0" err="1"/>
              <a:t>Hashmaps</a:t>
            </a:r>
            <a:r>
              <a:rPr lang="en-GB" sz="3400" dirty="0"/>
              <a:t> allow constant-time (O(1)) average-case lookup. This is crucial during encoding, where quick access to the Huffman code for a given symbol is needed.</a:t>
            </a:r>
          </a:p>
          <a:p>
            <a:pPr>
              <a:lnSpc>
                <a:spcPct val="140000"/>
              </a:lnSpc>
            </a:pPr>
            <a:r>
              <a:rPr lang="en-GB" sz="3400" dirty="0"/>
              <a:t>Dynamic Codebook Updates:</a:t>
            </a:r>
          </a:p>
          <a:p>
            <a:pPr>
              <a:lnSpc>
                <a:spcPct val="140000"/>
              </a:lnSpc>
            </a:pPr>
            <a:r>
              <a:rPr lang="en-GB" sz="3400" dirty="0"/>
              <a:t>Advantage: In some scenarios where the symbol frequencies change dynamically (adaptive Huffman coding), </a:t>
            </a:r>
            <a:r>
              <a:rPr lang="en-GB" sz="3400" dirty="0" err="1"/>
              <a:t>hashmaps</a:t>
            </a:r>
            <a:r>
              <a:rPr lang="en-GB" sz="3400" dirty="0"/>
              <a:t> make it easy to update the codebook </a:t>
            </a:r>
          </a:p>
          <a:p>
            <a:pPr>
              <a:lnSpc>
                <a:spcPct val="140000"/>
              </a:lnSpc>
            </a:pPr>
            <a:r>
              <a:rPr lang="en-GB" sz="3400" dirty="0"/>
              <a:t>Ease of Codebook Generation:</a:t>
            </a:r>
          </a:p>
          <a:p>
            <a:pPr>
              <a:lnSpc>
                <a:spcPct val="140000"/>
              </a:lnSpc>
            </a:pPr>
            <a:r>
              <a:rPr lang="en-GB" sz="3400" dirty="0"/>
              <a:t>Advantage: Constructing the symbol-to-code mappings is straightforward with </a:t>
            </a:r>
            <a:r>
              <a:rPr lang="en-GB" sz="3400" dirty="0" err="1"/>
              <a:t>hashmaps</a:t>
            </a:r>
            <a:r>
              <a:rPr lang="en-GB" sz="3400" dirty="0"/>
              <a:t>. During the traversal of the Huffman tree, the code for each symbol can be directly stored in the hashmap.</a:t>
            </a:r>
          </a:p>
          <a:p>
            <a:endParaRPr lang="en-GB" dirty="0"/>
          </a:p>
        </p:txBody>
      </p:sp>
    </p:spTree>
    <p:extLst>
      <p:ext uri="{BB962C8B-B14F-4D97-AF65-F5344CB8AC3E}">
        <p14:creationId xmlns:p14="http://schemas.microsoft.com/office/powerpoint/2010/main" val="2937332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E2845-9FFE-0973-EE81-9F1ABC95FF64}"/>
              </a:ext>
            </a:extLst>
          </p:cNvPr>
          <p:cNvSpPr>
            <a:spLocks noGrp="1"/>
          </p:cNvSpPr>
          <p:nvPr>
            <p:ph type="title"/>
          </p:nvPr>
        </p:nvSpPr>
        <p:spPr/>
        <p:txBody>
          <a:bodyPr/>
          <a:lstStyle/>
          <a:p>
            <a:r>
              <a:rPr lang="en-PK" dirty="0"/>
              <a:t>WHY PRIORITY QUEUE?</a:t>
            </a:r>
          </a:p>
        </p:txBody>
      </p:sp>
      <p:sp>
        <p:nvSpPr>
          <p:cNvPr id="3" name="Content Placeholder 2">
            <a:extLst>
              <a:ext uri="{FF2B5EF4-FFF2-40B4-BE49-F238E27FC236}">
                <a16:creationId xmlns:a16="http://schemas.microsoft.com/office/drawing/2014/main" id="{7BA49D37-3570-6A3B-FBF4-1CCA1A86C662}"/>
              </a:ext>
            </a:extLst>
          </p:cNvPr>
          <p:cNvSpPr>
            <a:spLocks noGrp="1"/>
          </p:cNvSpPr>
          <p:nvPr>
            <p:ph idx="1"/>
          </p:nvPr>
        </p:nvSpPr>
        <p:spPr/>
        <p:txBody>
          <a:bodyPr>
            <a:normAutofit fontScale="70000" lnSpcReduction="20000"/>
          </a:bodyPr>
          <a:lstStyle/>
          <a:p>
            <a:pPr algn="l"/>
            <a:r>
              <a:rPr lang="en-GB" sz="3100" dirty="0"/>
              <a:t>Efficient Frequency Analysis: In Huffman coding, the first step involves </a:t>
            </a:r>
            <a:r>
              <a:rPr lang="en-GB" sz="3100" dirty="0" err="1"/>
              <a:t>analyzing</a:t>
            </a:r>
            <a:r>
              <a:rPr lang="en-GB" sz="3100" dirty="0"/>
              <a:t> the frequency of each symbol in the input data. A priority queue facilitates quick extraction of symbols based on their frequencies.</a:t>
            </a:r>
          </a:p>
          <a:p>
            <a:pPr algn="l"/>
            <a:r>
              <a:rPr lang="en-GB" sz="3100" dirty="0"/>
              <a:t>Efficient Element Retrieval:</a:t>
            </a:r>
          </a:p>
          <a:p>
            <a:pPr algn="l">
              <a:buFont typeface="Arial" panose="020B0604020202020204" pitchFamily="34" charset="0"/>
              <a:buChar char="•"/>
            </a:pPr>
            <a:r>
              <a:rPr lang="en-GB" sz="3100" dirty="0"/>
              <a:t>Priority queues excel at quickly retrieving the element with the highest (or lowest) priority, making them suitable for scenarios where the order of processing is crucial.</a:t>
            </a:r>
          </a:p>
          <a:p>
            <a:pPr algn="l">
              <a:buFont typeface="Arial" panose="020B0604020202020204" pitchFamily="34" charset="0"/>
              <a:buChar char="•"/>
            </a:pPr>
            <a:r>
              <a:rPr lang="en-GB" sz="3100" dirty="0"/>
              <a:t>Huffman coding dynamically constructs a binary tree where symbols with lower frequencies are assigned higher priorities. A priority queue efficiently manages the evolving structure of the Huffman tree during construction.</a:t>
            </a:r>
          </a:p>
          <a:p>
            <a:pPr algn="l">
              <a:buFont typeface="Arial" panose="020B0604020202020204" pitchFamily="34" charset="0"/>
              <a:buChar char="•"/>
            </a:pPr>
            <a:endParaRPr lang="en-GB" b="0" i="0" dirty="0">
              <a:solidFill>
                <a:srgbClr val="374151"/>
              </a:solidFill>
              <a:effectLst/>
              <a:latin typeface="Söhne"/>
            </a:endParaRPr>
          </a:p>
        </p:txBody>
      </p:sp>
    </p:spTree>
    <p:extLst>
      <p:ext uri="{BB962C8B-B14F-4D97-AF65-F5344CB8AC3E}">
        <p14:creationId xmlns:p14="http://schemas.microsoft.com/office/powerpoint/2010/main" val="3425307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1EADA-F0F0-7A1A-0F30-C8C09962A7ED}"/>
              </a:ext>
            </a:extLst>
          </p:cNvPr>
          <p:cNvSpPr>
            <a:spLocks noGrp="1"/>
          </p:cNvSpPr>
          <p:nvPr>
            <p:ph type="title"/>
          </p:nvPr>
        </p:nvSpPr>
        <p:spPr/>
        <p:txBody>
          <a:bodyPr/>
          <a:lstStyle/>
          <a:p>
            <a:r>
              <a:rPr lang="en-PK" dirty="0"/>
              <a:t>WHY max heap?</a:t>
            </a:r>
          </a:p>
        </p:txBody>
      </p:sp>
      <p:sp>
        <p:nvSpPr>
          <p:cNvPr id="3" name="Content Placeholder 2">
            <a:extLst>
              <a:ext uri="{FF2B5EF4-FFF2-40B4-BE49-F238E27FC236}">
                <a16:creationId xmlns:a16="http://schemas.microsoft.com/office/drawing/2014/main" id="{BE70F740-CDC6-C3EF-EA8A-70D7C0C988BA}"/>
              </a:ext>
            </a:extLst>
          </p:cNvPr>
          <p:cNvSpPr>
            <a:spLocks noGrp="1"/>
          </p:cNvSpPr>
          <p:nvPr>
            <p:ph idx="1"/>
          </p:nvPr>
        </p:nvSpPr>
        <p:spPr/>
        <p:txBody>
          <a:bodyPr lIns="90000">
            <a:normAutofit fontScale="77500" lnSpcReduction="20000"/>
          </a:bodyPr>
          <a:lstStyle/>
          <a:p>
            <a:r>
              <a:rPr lang="en-PK" dirty="0"/>
              <a:t>For retrieving Huffman code, we get a time complexity of o(log n) which can only be achieved using Max Heap tree.</a:t>
            </a:r>
          </a:p>
          <a:p>
            <a:pPr algn="l"/>
            <a:r>
              <a:rPr lang="en-GB" dirty="0"/>
              <a:t>Memory Efficiency:</a:t>
            </a:r>
          </a:p>
          <a:p>
            <a:pPr algn="l">
              <a:buFont typeface="Arial" panose="020B0604020202020204" pitchFamily="34" charset="0"/>
              <a:buChar char="•"/>
            </a:pPr>
            <a:r>
              <a:rPr lang="en-GB" dirty="0"/>
              <a:t>The heap structure requires less memory overhead compared to alternatives like sorted arrays or linked lists. This contributes to better memory efficiency, which is important in resource-constrained environments.</a:t>
            </a:r>
          </a:p>
          <a:p>
            <a:pPr algn="l"/>
            <a:r>
              <a:rPr lang="en-GB" dirty="0"/>
              <a:t>Optimized Tree Construction:</a:t>
            </a:r>
          </a:p>
          <a:p>
            <a:pPr algn="l">
              <a:buFont typeface="Arial" panose="020B0604020202020204" pitchFamily="34" charset="0"/>
              <a:buChar char="•"/>
            </a:pPr>
            <a:r>
              <a:rPr lang="en-GB" dirty="0"/>
              <a:t>During Huffman tree construction, the most frequent symbols need to be combined to form internal nodes. Using a max heap ensures that the symbols with the highest frequencies are always at the top of the heap, making it easy to identify and merge them to build the tree</a:t>
            </a:r>
            <a:r>
              <a:rPr lang="en-GB" b="0" i="0" dirty="0">
                <a:solidFill>
                  <a:srgbClr val="374151"/>
                </a:solidFill>
                <a:effectLst/>
                <a:latin typeface="Söhne"/>
              </a:rPr>
              <a:t>.</a:t>
            </a:r>
          </a:p>
          <a:p>
            <a:endParaRPr lang="en-PK" dirty="0"/>
          </a:p>
        </p:txBody>
      </p:sp>
    </p:spTree>
    <p:extLst>
      <p:ext uri="{BB962C8B-B14F-4D97-AF65-F5344CB8AC3E}">
        <p14:creationId xmlns:p14="http://schemas.microsoft.com/office/powerpoint/2010/main" val="979521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B066D-094D-E05A-080D-E75F4E21E061}"/>
              </a:ext>
            </a:extLst>
          </p:cNvPr>
          <p:cNvSpPr>
            <a:spLocks noGrp="1"/>
          </p:cNvSpPr>
          <p:nvPr>
            <p:ph type="title"/>
          </p:nvPr>
        </p:nvSpPr>
        <p:spPr/>
        <p:txBody>
          <a:bodyPr/>
          <a:lstStyle/>
          <a:p>
            <a:r>
              <a:rPr lang="en-PK" dirty="0"/>
              <a:t>lIMITATIONS:</a:t>
            </a:r>
          </a:p>
        </p:txBody>
      </p:sp>
      <p:sp>
        <p:nvSpPr>
          <p:cNvPr id="3" name="Content Placeholder 2">
            <a:extLst>
              <a:ext uri="{FF2B5EF4-FFF2-40B4-BE49-F238E27FC236}">
                <a16:creationId xmlns:a16="http://schemas.microsoft.com/office/drawing/2014/main" id="{8A872501-FA2C-67B9-6E1D-F35C74831D1F}"/>
              </a:ext>
            </a:extLst>
          </p:cNvPr>
          <p:cNvSpPr>
            <a:spLocks noGrp="1"/>
          </p:cNvSpPr>
          <p:nvPr>
            <p:ph idx="1"/>
          </p:nvPr>
        </p:nvSpPr>
        <p:spPr/>
        <p:txBody>
          <a:bodyPr>
            <a:normAutofit fontScale="77500" lnSpcReduction="20000"/>
          </a:bodyPr>
          <a:lstStyle/>
          <a:p>
            <a:pPr>
              <a:lnSpc>
                <a:spcPct val="110000"/>
              </a:lnSpc>
            </a:pPr>
            <a:r>
              <a:rPr lang="en-GB" dirty="0"/>
              <a:t>Fixed Alphabet Size: Huffman coding is designed for a fixed alphabet size, meaning it assumes a predetermined set of symbols. When dealing with variable-sized alphabets or dynamic datasets where the set of symbols can change, adapting Huffman coding becomes more challenging.</a:t>
            </a:r>
          </a:p>
          <a:p>
            <a:pPr>
              <a:lnSpc>
                <a:spcPct val="110000"/>
              </a:lnSpc>
            </a:pPr>
            <a:r>
              <a:rPr lang="en-GB" dirty="0"/>
              <a:t>Not Always Optimal for Short Messages: Huffman coding may not be optimal for very short messages or small files. The overhead of encoding the Huffman tree or codebook can become a significant portion of the compressed data, reducing the overall compression efficiency.</a:t>
            </a:r>
          </a:p>
          <a:p>
            <a:pPr>
              <a:lnSpc>
                <a:spcPct val="110000"/>
              </a:lnSpc>
            </a:pPr>
            <a:r>
              <a:rPr lang="en-GB" dirty="0"/>
              <a:t>If the Huffman node originates from a file in which the letter frequencies exhibit a greater difference compared to the file being compressed, it will result in the creation of leaf nodes for the alphabet. This, in turn, leads to an augmentation in the number of bits and consequently increases the overall file size. If the frequencies exceeds beyond a certain limit, it will not compress properly because the binary code generated will exceed the original number of letters in the file.</a:t>
            </a:r>
          </a:p>
          <a:p>
            <a:pPr>
              <a:lnSpc>
                <a:spcPct val="110000"/>
              </a:lnSpc>
            </a:pPr>
            <a:endParaRPr lang="en-GB" dirty="0"/>
          </a:p>
        </p:txBody>
      </p:sp>
    </p:spTree>
    <p:extLst>
      <p:ext uri="{BB962C8B-B14F-4D97-AF65-F5344CB8AC3E}">
        <p14:creationId xmlns:p14="http://schemas.microsoft.com/office/powerpoint/2010/main" val="21508663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D714B-F9C7-C51B-C8AD-1391A6796C2A}"/>
              </a:ext>
            </a:extLst>
          </p:cNvPr>
          <p:cNvSpPr>
            <a:spLocks noGrp="1"/>
          </p:cNvSpPr>
          <p:nvPr>
            <p:ph type="title"/>
          </p:nvPr>
        </p:nvSpPr>
        <p:spPr/>
        <p:txBody>
          <a:bodyPr/>
          <a:lstStyle/>
          <a:p>
            <a:r>
              <a:rPr lang="en-PK" dirty="0"/>
              <a:t> </a:t>
            </a:r>
          </a:p>
        </p:txBody>
      </p:sp>
      <p:pic>
        <p:nvPicPr>
          <p:cNvPr id="5" name="Content Placeholder 4" descr="A screenshot of a computer&#10;&#10;Description automatically generated">
            <a:extLst>
              <a:ext uri="{FF2B5EF4-FFF2-40B4-BE49-F238E27FC236}">
                <a16:creationId xmlns:a16="http://schemas.microsoft.com/office/drawing/2014/main" id="{5E3C0E2D-AA50-B20E-9C97-84150F86C08D}"/>
              </a:ext>
            </a:extLst>
          </p:cNvPr>
          <p:cNvPicPr>
            <a:picLocks noGrp="1" noChangeAspect="1"/>
          </p:cNvPicPr>
          <p:nvPr>
            <p:ph idx="1"/>
          </p:nvPr>
        </p:nvPicPr>
        <p:blipFill>
          <a:blip r:embed="rId2"/>
          <a:stretch>
            <a:fillRect/>
          </a:stretch>
        </p:blipFill>
        <p:spPr>
          <a:xfrm>
            <a:off x="5845874" y="3678382"/>
            <a:ext cx="6239248" cy="3179618"/>
          </a:xfrm>
        </p:spPr>
      </p:pic>
      <p:pic>
        <p:nvPicPr>
          <p:cNvPr id="14" name="Picture 13" descr="A screenshot of a computer&#10;&#10;Description automatically generated">
            <a:extLst>
              <a:ext uri="{FF2B5EF4-FFF2-40B4-BE49-F238E27FC236}">
                <a16:creationId xmlns:a16="http://schemas.microsoft.com/office/drawing/2014/main" id="{A3A098AF-6098-0265-797E-B3136BE6CA88}"/>
              </a:ext>
            </a:extLst>
          </p:cNvPr>
          <p:cNvPicPr>
            <a:picLocks noChangeAspect="1"/>
          </p:cNvPicPr>
          <p:nvPr/>
        </p:nvPicPr>
        <p:blipFill>
          <a:blip r:embed="rId3"/>
          <a:stretch>
            <a:fillRect/>
          </a:stretch>
        </p:blipFill>
        <p:spPr>
          <a:xfrm>
            <a:off x="228846" y="213755"/>
            <a:ext cx="5617028" cy="3562597"/>
          </a:xfrm>
          <a:prstGeom prst="rect">
            <a:avLst/>
          </a:prstGeom>
        </p:spPr>
      </p:pic>
      <p:sp>
        <p:nvSpPr>
          <p:cNvPr id="15" name="TextBox 14">
            <a:extLst>
              <a:ext uri="{FF2B5EF4-FFF2-40B4-BE49-F238E27FC236}">
                <a16:creationId xmlns:a16="http://schemas.microsoft.com/office/drawing/2014/main" id="{87F77188-C45C-65AC-5E73-5A595E24382F}"/>
              </a:ext>
            </a:extLst>
          </p:cNvPr>
          <p:cNvSpPr txBox="1"/>
          <p:nvPr/>
        </p:nvSpPr>
        <p:spPr>
          <a:xfrm>
            <a:off x="6558537" y="1502740"/>
            <a:ext cx="4488874" cy="1569660"/>
          </a:xfrm>
          <a:prstGeom prst="rect">
            <a:avLst/>
          </a:prstGeom>
          <a:noFill/>
        </p:spPr>
        <p:txBody>
          <a:bodyPr wrap="square" rtlCol="0">
            <a:spAutoFit/>
          </a:bodyPr>
          <a:lstStyle/>
          <a:p>
            <a:r>
              <a:rPr lang="en-PK" sz="2400" dirty="0"/>
              <a:t>Since the frequency of the letters of this file somehow matches the freqency of Huffman tree, so file is compressed approximately 40%.</a:t>
            </a:r>
          </a:p>
        </p:txBody>
      </p:sp>
    </p:spTree>
    <p:extLst>
      <p:ext uri="{BB962C8B-B14F-4D97-AF65-F5344CB8AC3E}">
        <p14:creationId xmlns:p14="http://schemas.microsoft.com/office/powerpoint/2010/main" val="3544822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28650-C599-364E-1DDD-1C17AF2E0342}"/>
              </a:ext>
            </a:extLst>
          </p:cNvPr>
          <p:cNvSpPr>
            <a:spLocks noGrp="1"/>
          </p:cNvSpPr>
          <p:nvPr>
            <p:ph type="title"/>
          </p:nvPr>
        </p:nvSpPr>
        <p:spPr/>
        <p:txBody>
          <a:bodyPr/>
          <a:lstStyle/>
          <a:p>
            <a:r>
              <a:rPr lang="en-PK" dirty="0"/>
              <a:t> </a:t>
            </a:r>
          </a:p>
        </p:txBody>
      </p:sp>
      <p:pic>
        <p:nvPicPr>
          <p:cNvPr id="11" name="Content Placeholder 10" descr="A screenshot of a computer&#10;&#10;Description automatically generated">
            <a:extLst>
              <a:ext uri="{FF2B5EF4-FFF2-40B4-BE49-F238E27FC236}">
                <a16:creationId xmlns:a16="http://schemas.microsoft.com/office/drawing/2014/main" id="{05355745-7CD6-E48B-A471-8EEEBB705EB8}"/>
              </a:ext>
            </a:extLst>
          </p:cNvPr>
          <p:cNvPicPr>
            <a:picLocks noGrp="1" noChangeAspect="1"/>
          </p:cNvPicPr>
          <p:nvPr>
            <p:ph idx="1"/>
          </p:nvPr>
        </p:nvPicPr>
        <p:blipFill>
          <a:blip r:embed="rId2"/>
          <a:stretch>
            <a:fillRect/>
          </a:stretch>
        </p:blipFill>
        <p:spPr>
          <a:xfrm>
            <a:off x="326925" y="326232"/>
            <a:ext cx="5051049" cy="3541712"/>
          </a:xfrm>
        </p:spPr>
      </p:pic>
      <p:pic>
        <p:nvPicPr>
          <p:cNvPr id="13" name="Picture 12" descr="A screenshot of a computer&#10;&#10;Description automatically generated">
            <a:extLst>
              <a:ext uri="{FF2B5EF4-FFF2-40B4-BE49-F238E27FC236}">
                <a16:creationId xmlns:a16="http://schemas.microsoft.com/office/drawing/2014/main" id="{D41A7C58-AE8F-E507-D8F2-2F6CB3B56D84}"/>
              </a:ext>
            </a:extLst>
          </p:cNvPr>
          <p:cNvPicPr>
            <a:picLocks noChangeAspect="1"/>
          </p:cNvPicPr>
          <p:nvPr/>
        </p:nvPicPr>
        <p:blipFill>
          <a:blip r:embed="rId3"/>
          <a:stretch>
            <a:fillRect/>
          </a:stretch>
        </p:blipFill>
        <p:spPr>
          <a:xfrm>
            <a:off x="5403182" y="3063092"/>
            <a:ext cx="6605259" cy="3682432"/>
          </a:xfrm>
          <a:prstGeom prst="rect">
            <a:avLst/>
          </a:prstGeom>
        </p:spPr>
      </p:pic>
      <p:sp>
        <p:nvSpPr>
          <p:cNvPr id="15" name="TextBox 14">
            <a:extLst>
              <a:ext uri="{FF2B5EF4-FFF2-40B4-BE49-F238E27FC236}">
                <a16:creationId xmlns:a16="http://schemas.microsoft.com/office/drawing/2014/main" id="{14BFA8E7-4872-97F4-BA3A-695026456F61}"/>
              </a:ext>
            </a:extLst>
          </p:cNvPr>
          <p:cNvSpPr txBox="1"/>
          <p:nvPr/>
        </p:nvSpPr>
        <p:spPr>
          <a:xfrm>
            <a:off x="6096000" y="618518"/>
            <a:ext cx="4690830" cy="2215991"/>
          </a:xfrm>
          <a:prstGeom prst="rect">
            <a:avLst/>
          </a:prstGeom>
          <a:noFill/>
        </p:spPr>
        <p:txBody>
          <a:bodyPr wrap="square">
            <a:spAutoFit/>
          </a:bodyPr>
          <a:lstStyle/>
          <a:p>
            <a:r>
              <a:rPr lang="en-PK" sz="2400" dirty="0"/>
              <a:t>The frequency of letters here is greater than the frequency generated from the huffman file thus a drastic decrease in the compression percentage.</a:t>
            </a:r>
            <a:endParaRPr lang="en-PK" dirty="0"/>
          </a:p>
          <a:p>
            <a:endParaRPr lang="en-PK" sz="1800" dirty="0"/>
          </a:p>
        </p:txBody>
      </p:sp>
    </p:spTree>
    <p:extLst>
      <p:ext uri="{BB962C8B-B14F-4D97-AF65-F5344CB8AC3E}">
        <p14:creationId xmlns:p14="http://schemas.microsoft.com/office/powerpoint/2010/main" val="3527984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AD92F-E6E0-8B96-5D02-8186C6CA2C4B}"/>
              </a:ext>
            </a:extLst>
          </p:cNvPr>
          <p:cNvSpPr>
            <a:spLocks noGrp="1"/>
          </p:cNvSpPr>
          <p:nvPr>
            <p:ph type="title"/>
          </p:nvPr>
        </p:nvSpPr>
        <p:spPr/>
        <p:txBody>
          <a:bodyPr/>
          <a:lstStyle/>
          <a:p>
            <a:r>
              <a:rPr lang="en-PK" dirty="0"/>
              <a:t>The BIG OH’S !</a:t>
            </a:r>
          </a:p>
        </p:txBody>
      </p:sp>
      <p:sp>
        <p:nvSpPr>
          <p:cNvPr id="3" name="Content Placeholder 2">
            <a:extLst>
              <a:ext uri="{FF2B5EF4-FFF2-40B4-BE49-F238E27FC236}">
                <a16:creationId xmlns:a16="http://schemas.microsoft.com/office/drawing/2014/main" id="{F203D87C-CE6C-588E-8707-B88A991A6D84}"/>
              </a:ext>
            </a:extLst>
          </p:cNvPr>
          <p:cNvSpPr>
            <a:spLocks noGrp="1"/>
          </p:cNvSpPr>
          <p:nvPr>
            <p:ph idx="1"/>
          </p:nvPr>
        </p:nvSpPr>
        <p:spPr>
          <a:xfrm>
            <a:off x="1141412" y="1805048"/>
            <a:ext cx="9905999" cy="4434433"/>
          </a:xfrm>
        </p:spPr>
        <p:txBody>
          <a:bodyPr>
            <a:normAutofit fontScale="92500" lnSpcReduction="10000"/>
          </a:bodyPr>
          <a:lstStyle/>
          <a:p>
            <a:r>
              <a:rPr lang="en-PK" dirty="0"/>
              <a:t>Buildhuffmantree() = </a:t>
            </a:r>
            <a:r>
              <a:rPr lang="en-GB" dirty="0"/>
              <a:t>O(n log n)</a:t>
            </a:r>
          </a:p>
          <a:p>
            <a:r>
              <a:rPr lang="en-GB" dirty="0" err="1"/>
              <a:t>priorityadd</a:t>
            </a:r>
            <a:r>
              <a:rPr lang="en-GB" dirty="0"/>
              <a:t>() = O(n).</a:t>
            </a:r>
          </a:p>
          <a:p>
            <a:r>
              <a:rPr lang="en-GB" dirty="0"/>
              <a:t>Huff: O(n)</a:t>
            </a:r>
          </a:p>
          <a:p>
            <a:r>
              <a:rPr lang="en-GB" dirty="0" err="1"/>
              <a:t>printcode</a:t>
            </a:r>
            <a:r>
              <a:rPr lang="en-GB" dirty="0"/>
              <a:t>: o(n)</a:t>
            </a:r>
          </a:p>
          <a:p>
            <a:r>
              <a:rPr lang="en-GB" dirty="0"/>
              <a:t>serialize: O(1)  deserialize: O(n)</a:t>
            </a:r>
          </a:p>
          <a:p>
            <a:r>
              <a:rPr lang="en-GB" dirty="0"/>
              <a:t>compress: O(n)</a:t>
            </a:r>
          </a:p>
          <a:p>
            <a:r>
              <a:rPr lang="en-GB" dirty="0"/>
              <a:t>decompress: O(n log n) </a:t>
            </a:r>
          </a:p>
          <a:p>
            <a:r>
              <a:rPr lang="en-GB" dirty="0"/>
              <a:t>W</a:t>
            </a:r>
            <a:r>
              <a:rPr lang="en-PK" dirty="0"/>
              <a:t>riteto file: O(k) where k is the length of binary representation.</a:t>
            </a:r>
          </a:p>
          <a:p>
            <a:r>
              <a:rPr lang="en-GB" dirty="0"/>
              <a:t>d</a:t>
            </a:r>
            <a:r>
              <a:rPr lang="en-PK" dirty="0"/>
              <a:t>ectobin: O(n)</a:t>
            </a:r>
          </a:p>
          <a:p>
            <a:endParaRPr lang="en-PK" dirty="0"/>
          </a:p>
        </p:txBody>
      </p:sp>
    </p:spTree>
    <p:extLst>
      <p:ext uri="{BB962C8B-B14F-4D97-AF65-F5344CB8AC3E}">
        <p14:creationId xmlns:p14="http://schemas.microsoft.com/office/powerpoint/2010/main" val="1995280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D522D-D768-5378-795D-4EE1C4087961}"/>
              </a:ext>
            </a:extLst>
          </p:cNvPr>
          <p:cNvSpPr>
            <a:spLocks noGrp="1"/>
          </p:cNvSpPr>
          <p:nvPr>
            <p:ph type="title"/>
          </p:nvPr>
        </p:nvSpPr>
        <p:spPr/>
        <p:txBody>
          <a:bodyPr/>
          <a:lstStyle/>
          <a:p>
            <a:r>
              <a:rPr lang="en-PK" dirty="0"/>
              <a:t>More B</a:t>
            </a:r>
            <a:r>
              <a:rPr lang="en-GB" dirty="0" err="1"/>
              <a:t>i</a:t>
            </a:r>
            <a:r>
              <a:rPr lang="en-PK" dirty="0"/>
              <a:t>g o</a:t>
            </a:r>
          </a:p>
        </p:txBody>
      </p:sp>
      <p:sp>
        <p:nvSpPr>
          <p:cNvPr id="3" name="Content Placeholder 2">
            <a:extLst>
              <a:ext uri="{FF2B5EF4-FFF2-40B4-BE49-F238E27FC236}">
                <a16:creationId xmlns:a16="http://schemas.microsoft.com/office/drawing/2014/main" id="{7A59896D-8393-E9F4-04A0-2C71EC0E4D39}"/>
              </a:ext>
            </a:extLst>
          </p:cNvPr>
          <p:cNvSpPr>
            <a:spLocks noGrp="1"/>
          </p:cNvSpPr>
          <p:nvPr>
            <p:ph idx="1"/>
          </p:nvPr>
        </p:nvSpPr>
        <p:spPr/>
        <p:txBody>
          <a:bodyPr>
            <a:normAutofit fontScale="92500" lnSpcReduction="20000"/>
          </a:bodyPr>
          <a:lstStyle/>
          <a:p>
            <a:pPr algn="l">
              <a:buFont typeface="Arial" panose="020B0604020202020204" pitchFamily="34" charset="0"/>
              <a:buChar char="•"/>
            </a:pPr>
            <a:r>
              <a:rPr lang="en-GB" dirty="0"/>
              <a:t>Enqueue: O(n) </a:t>
            </a:r>
          </a:p>
          <a:p>
            <a:pPr algn="l">
              <a:buFont typeface="Arial" panose="020B0604020202020204" pitchFamily="34" charset="0"/>
              <a:buChar char="•"/>
            </a:pPr>
            <a:r>
              <a:rPr lang="en-GB" dirty="0"/>
              <a:t>Dequeue: O(1) </a:t>
            </a:r>
          </a:p>
          <a:p>
            <a:pPr algn="l">
              <a:buFont typeface="Arial" panose="020B0604020202020204" pitchFamily="34" charset="0"/>
              <a:buChar char="•"/>
            </a:pPr>
            <a:r>
              <a:rPr lang="en-GB" dirty="0" err="1"/>
              <a:t>isEmpty</a:t>
            </a:r>
            <a:r>
              <a:rPr lang="en-GB" dirty="0"/>
              <a:t>: O(1). </a:t>
            </a:r>
          </a:p>
          <a:p>
            <a:pPr algn="l">
              <a:buFont typeface="Arial" panose="020B0604020202020204" pitchFamily="34" charset="0"/>
              <a:buChar char="•"/>
            </a:pPr>
            <a:r>
              <a:rPr lang="en-GB" dirty="0" err="1"/>
              <a:t>toString</a:t>
            </a:r>
            <a:r>
              <a:rPr lang="en-GB" dirty="0"/>
              <a:t>: O(n),</a:t>
            </a:r>
          </a:p>
          <a:p>
            <a:pPr algn="l">
              <a:buFont typeface="Arial" panose="020B0604020202020204" pitchFamily="34" charset="0"/>
              <a:buChar char="•"/>
            </a:pPr>
            <a:r>
              <a:rPr lang="en-GB" dirty="0"/>
              <a:t>put: O(1) average case, O(n) worst case (due to potential collisions and linear search in the linked list).</a:t>
            </a:r>
          </a:p>
          <a:p>
            <a:pPr algn="l">
              <a:buFont typeface="Arial" panose="020B0604020202020204" pitchFamily="34" charset="0"/>
              <a:buChar char="•"/>
            </a:pPr>
            <a:r>
              <a:rPr lang="en-GB" dirty="0"/>
              <a:t>get: O(1) average case, O(n) worst case (due to potential collisions and linear search in the linked list).</a:t>
            </a:r>
          </a:p>
          <a:p>
            <a:pPr algn="l">
              <a:buFont typeface="Arial" panose="020B0604020202020204" pitchFamily="34" charset="0"/>
              <a:buChar char="•"/>
            </a:pPr>
            <a:endParaRPr lang="en-GB" dirty="0"/>
          </a:p>
          <a:p>
            <a:pPr algn="l">
              <a:buFont typeface="Arial" panose="020B0604020202020204" pitchFamily="34" charset="0"/>
              <a:buChar char="•"/>
            </a:pPr>
            <a:endParaRPr lang="en-GB" dirty="0"/>
          </a:p>
          <a:p>
            <a:pPr algn="l">
              <a:buFont typeface="Arial" panose="020B0604020202020204" pitchFamily="34" charset="0"/>
              <a:buChar char="•"/>
            </a:pPr>
            <a:endParaRPr lang="en-GB" dirty="0"/>
          </a:p>
          <a:p>
            <a:endParaRPr lang="en-PK" dirty="0"/>
          </a:p>
        </p:txBody>
      </p:sp>
    </p:spTree>
    <p:extLst>
      <p:ext uri="{BB962C8B-B14F-4D97-AF65-F5344CB8AC3E}">
        <p14:creationId xmlns:p14="http://schemas.microsoft.com/office/powerpoint/2010/main" val="30768091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E9FC2-D706-9D06-23DC-15C82F18985B}"/>
              </a:ext>
            </a:extLst>
          </p:cNvPr>
          <p:cNvSpPr>
            <a:spLocks noGrp="1"/>
          </p:cNvSpPr>
          <p:nvPr>
            <p:ph type="title"/>
          </p:nvPr>
        </p:nvSpPr>
        <p:spPr/>
        <p:txBody>
          <a:bodyPr/>
          <a:lstStyle/>
          <a:p>
            <a:r>
              <a:rPr lang="en-PK" dirty="0"/>
              <a:t>TESTING: ABOUT THE DATA &amp; ITS SOURCE:</a:t>
            </a:r>
          </a:p>
        </p:txBody>
      </p:sp>
      <p:sp>
        <p:nvSpPr>
          <p:cNvPr id="3" name="Content Placeholder 2">
            <a:extLst>
              <a:ext uri="{FF2B5EF4-FFF2-40B4-BE49-F238E27FC236}">
                <a16:creationId xmlns:a16="http://schemas.microsoft.com/office/drawing/2014/main" id="{4FF880EE-10F9-3ADF-30CC-07984C4DD0B1}"/>
              </a:ext>
            </a:extLst>
          </p:cNvPr>
          <p:cNvSpPr>
            <a:spLocks noGrp="1"/>
          </p:cNvSpPr>
          <p:nvPr>
            <p:ph idx="1"/>
          </p:nvPr>
        </p:nvSpPr>
        <p:spPr/>
        <p:txBody>
          <a:bodyPr>
            <a:normAutofit lnSpcReduction="10000"/>
          </a:bodyPr>
          <a:lstStyle/>
          <a:p>
            <a:r>
              <a:rPr lang="en-PK" dirty="0"/>
              <a:t>We tested many different data files, such as books, medical files used by physicians for their reports and reports related to the emrging technologies.</a:t>
            </a:r>
          </a:p>
          <a:p>
            <a:r>
              <a:rPr lang="en-PK" dirty="0"/>
              <a:t>We’re proud that our Huffman was able to compress them all with an average of 50% memory saving.</a:t>
            </a:r>
          </a:p>
          <a:p>
            <a:r>
              <a:rPr lang="en-PK" dirty="0"/>
              <a:t>Some Notable files include: </a:t>
            </a:r>
          </a:p>
          <a:p>
            <a:r>
              <a:rPr lang="en-PK" dirty="0"/>
              <a:t>-Oliver Twist (Novel by Charles Dickens)</a:t>
            </a:r>
          </a:p>
          <a:p>
            <a:r>
              <a:rPr lang="en-PK" dirty="0"/>
              <a:t>-A custom file made with different sources to test the increasing frequencies.</a:t>
            </a:r>
          </a:p>
        </p:txBody>
      </p:sp>
    </p:spTree>
    <p:extLst>
      <p:ext uri="{BB962C8B-B14F-4D97-AF65-F5344CB8AC3E}">
        <p14:creationId xmlns:p14="http://schemas.microsoft.com/office/powerpoint/2010/main" val="3913422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B3F99-6AE6-9CA7-1C54-65517229F830}"/>
              </a:ext>
            </a:extLst>
          </p:cNvPr>
          <p:cNvSpPr>
            <a:spLocks noGrp="1"/>
          </p:cNvSpPr>
          <p:nvPr>
            <p:ph type="title"/>
          </p:nvPr>
        </p:nvSpPr>
        <p:spPr/>
        <p:txBody>
          <a:bodyPr/>
          <a:lstStyle/>
          <a:p>
            <a:r>
              <a:rPr lang="en-GB" dirty="0"/>
              <a:t>Resources:</a:t>
            </a:r>
            <a:endParaRPr lang="en-PK" dirty="0"/>
          </a:p>
        </p:txBody>
      </p:sp>
      <p:sp>
        <p:nvSpPr>
          <p:cNvPr id="3" name="Content Placeholder 2">
            <a:extLst>
              <a:ext uri="{FF2B5EF4-FFF2-40B4-BE49-F238E27FC236}">
                <a16:creationId xmlns:a16="http://schemas.microsoft.com/office/drawing/2014/main" id="{E1E9EE0E-BCB2-2DF9-22D9-9C4B5366A51A}"/>
              </a:ext>
            </a:extLst>
          </p:cNvPr>
          <p:cNvSpPr>
            <a:spLocks noGrp="1"/>
          </p:cNvSpPr>
          <p:nvPr>
            <p:ph idx="1"/>
          </p:nvPr>
        </p:nvSpPr>
        <p:spPr>
          <a:xfrm>
            <a:off x="1141412" y="1888177"/>
            <a:ext cx="9905999" cy="4108862"/>
          </a:xfrm>
        </p:spPr>
        <p:txBody>
          <a:bodyPr>
            <a:normAutofit fontScale="92500"/>
          </a:bodyPr>
          <a:lstStyle/>
          <a:p>
            <a:r>
              <a:rPr lang="en-PK" dirty="0"/>
              <a:t>Data Resources: Oliver twist from </a:t>
            </a:r>
            <a:r>
              <a:rPr lang="en-GB" dirty="0">
                <a:hlinkClick r:id="rId2"/>
              </a:rPr>
              <a:t>https://e-school.kmutt.ac.th/</a:t>
            </a:r>
            <a:endParaRPr lang="en-GB" dirty="0"/>
          </a:p>
          <a:p>
            <a:r>
              <a:rPr lang="en-GB" dirty="0">
                <a:hlinkClick r:id="rId3"/>
              </a:rPr>
              <a:t>https://www.sietk.org/downloads/javabook.pdf</a:t>
            </a:r>
            <a:endParaRPr lang="en-GB" dirty="0"/>
          </a:p>
          <a:p>
            <a:r>
              <a:rPr lang="en-GB" dirty="0">
                <a:hlinkClick r:id="rId4"/>
              </a:rPr>
              <a:t>https://rlmc.edu.pk/themes/images/gallery/library/books/Anatomy/Clinical_Anatomy__Applied_Anatomy_for_Students_and_Junior_Doctors_11th_Edition.pdf</a:t>
            </a:r>
            <a:endParaRPr lang="en-GB" dirty="0"/>
          </a:p>
          <a:p>
            <a:r>
              <a:rPr lang="en-GB" dirty="0">
                <a:hlinkClick r:id="rId5"/>
              </a:rPr>
              <a:t>https://repository.poltekkes-kaltim.ac.id/1147/1/Guyton%20and%20Hall%20Textbook%20of%20Medical%20Physiology%20(%20PDFDrive%20).pdf</a:t>
            </a:r>
            <a:endParaRPr lang="en-GB" dirty="0"/>
          </a:p>
          <a:p>
            <a:r>
              <a:rPr lang="en-GB" dirty="0"/>
              <a:t>https://</a:t>
            </a:r>
            <a:r>
              <a:rPr lang="en-GB" dirty="0" err="1"/>
              <a:t>www.geeksforgeeks.org</a:t>
            </a:r>
            <a:r>
              <a:rPr lang="en-GB" dirty="0"/>
              <a:t>/serialization-in-java/</a:t>
            </a:r>
          </a:p>
          <a:p>
            <a:pPr marL="0" indent="0">
              <a:buNone/>
            </a:pPr>
            <a:endParaRPr lang="en-PK" dirty="0"/>
          </a:p>
        </p:txBody>
      </p:sp>
    </p:spTree>
    <p:extLst>
      <p:ext uri="{BB962C8B-B14F-4D97-AF65-F5344CB8AC3E}">
        <p14:creationId xmlns:p14="http://schemas.microsoft.com/office/powerpoint/2010/main" val="2570484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999AA-8BE9-20BD-87D2-FBC15D89E0E6}"/>
              </a:ext>
            </a:extLst>
          </p:cNvPr>
          <p:cNvSpPr>
            <a:spLocks noGrp="1"/>
          </p:cNvSpPr>
          <p:nvPr>
            <p:ph type="title"/>
          </p:nvPr>
        </p:nvSpPr>
        <p:spPr/>
        <p:txBody>
          <a:bodyPr/>
          <a:lstStyle/>
          <a:p>
            <a:r>
              <a:rPr lang="en-PK" dirty="0"/>
              <a:t> </a:t>
            </a:r>
          </a:p>
        </p:txBody>
      </p:sp>
      <p:sp>
        <p:nvSpPr>
          <p:cNvPr id="3" name="Content Placeholder 2">
            <a:extLst>
              <a:ext uri="{FF2B5EF4-FFF2-40B4-BE49-F238E27FC236}">
                <a16:creationId xmlns:a16="http://schemas.microsoft.com/office/drawing/2014/main" id="{C33FAE4C-06ED-9E29-D458-0F90D5F7808C}"/>
              </a:ext>
            </a:extLst>
          </p:cNvPr>
          <p:cNvSpPr>
            <a:spLocks noGrp="1"/>
          </p:cNvSpPr>
          <p:nvPr>
            <p:ph idx="1"/>
          </p:nvPr>
        </p:nvSpPr>
        <p:spPr>
          <a:xfrm>
            <a:off x="1141412" y="1876301"/>
            <a:ext cx="9905999" cy="3914900"/>
          </a:xfrm>
        </p:spPr>
        <p:txBody>
          <a:bodyPr>
            <a:normAutofit fontScale="77500" lnSpcReduction="20000"/>
          </a:bodyPr>
          <a:lstStyle/>
          <a:p>
            <a:pPr marL="0" indent="0">
              <a:buNone/>
            </a:pPr>
            <a:r>
              <a:rPr lang="en-PK" sz="7200" b="1" dirty="0"/>
              <a:t>GETTING A JOB AT GOOGLE  NOW DUE TO THIS PROJECT….</a:t>
            </a:r>
          </a:p>
          <a:p>
            <a:pPr marL="0" indent="0">
              <a:buNone/>
            </a:pPr>
            <a:r>
              <a:rPr lang="en-PK" sz="7200" b="1" dirty="0"/>
              <a:t>THANK YOU.</a:t>
            </a:r>
          </a:p>
        </p:txBody>
      </p:sp>
    </p:spTree>
    <p:extLst>
      <p:ext uri="{BB962C8B-B14F-4D97-AF65-F5344CB8AC3E}">
        <p14:creationId xmlns:p14="http://schemas.microsoft.com/office/powerpoint/2010/main" val="470198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Circuit</Template>
  <TotalTime>436</TotalTime>
  <Words>2591</Words>
  <Application>Microsoft Office PowerPoint</Application>
  <PresentationFormat>Widescreen</PresentationFormat>
  <Paragraphs>163</Paragraphs>
  <Slides>26</Slides>
  <Notes>8</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Circuit</vt:lpstr>
      <vt:lpstr>Huffman CODING for File Compression</vt:lpstr>
      <vt:lpstr>contents</vt:lpstr>
      <vt:lpstr>MOTIVATION</vt:lpstr>
      <vt:lpstr>WHY WAS IT TIME CONSUMING &amp; NEARLY IMPOSSIBLE TO SHARE LARGE DATA FILES?</vt:lpstr>
      <vt:lpstr>What is the solution for this ?</vt:lpstr>
      <vt:lpstr>wHAT IS HUFFMAN COMPRESSION ?</vt:lpstr>
      <vt:lpstr>HOW DOES HUFFMAN COMPRESSION WORKS ?</vt:lpstr>
      <vt:lpstr>How does our code works ?</vt:lpstr>
      <vt:lpstr> </vt:lpstr>
      <vt:lpstr> </vt:lpstr>
      <vt:lpstr> </vt:lpstr>
      <vt:lpstr> </vt:lpstr>
      <vt:lpstr>6. Decompression: </vt:lpstr>
      <vt:lpstr> </vt:lpstr>
      <vt:lpstr>WHICH DATA STRUCTURES WE USED ?</vt:lpstr>
      <vt:lpstr>WHY HASHMAP ?</vt:lpstr>
      <vt:lpstr>WHY PRIORITY QUEUE?</vt:lpstr>
      <vt:lpstr>WHY max heap?</vt:lpstr>
      <vt:lpstr>lIMITATIONS:</vt:lpstr>
      <vt:lpstr> </vt:lpstr>
      <vt:lpstr> </vt:lpstr>
      <vt:lpstr>The BIG OH’S !</vt:lpstr>
      <vt:lpstr>More Big o</vt:lpstr>
      <vt:lpstr>TESTING: ABOUT THE DATA &amp; ITS SOURCE:</vt:lpstr>
      <vt:lpstr>Resources: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Huffman CODING for text File Compression</dc:title>
  <dc:creator>ABDULLAH KHALID - 26969</dc:creator>
  <cp:lastModifiedBy>103289 Abdullah</cp:lastModifiedBy>
  <cp:revision>77</cp:revision>
  <dcterms:created xsi:type="dcterms:W3CDTF">2023-11-29T14:58:18Z</dcterms:created>
  <dcterms:modified xsi:type="dcterms:W3CDTF">2023-12-12T09:22:58Z</dcterms:modified>
</cp:coreProperties>
</file>